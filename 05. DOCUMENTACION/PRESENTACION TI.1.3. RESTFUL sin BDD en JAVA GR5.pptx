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Lst>
  <p:sldSz cy="6858000" cx="12192000"/>
  <p:notesSz cx="6858000" cy="9144000"/>
  <p:embeddedFontLst>
    <p:embeddedFont>
      <p:font typeface="Gill Sans"/>
      <p:regular r:id="rId82"/>
      <p:bold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BBDE1E-296D-40B9-B01D-3F357474E97A}">
  <a:tblStyle styleId="{24BBDE1E-296D-40B9-B01D-3F357474E97A}"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3" Type="http://schemas.openxmlformats.org/officeDocument/2006/relationships/font" Target="fonts/GillSans-bold.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font" Target="fonts/GillSans-regular.fntdata"/><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8526227be_0_4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g3a8526227be_0_4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8526227be_0_4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g3a8526227be_0_4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8526227be_0_4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a8526227be_0_4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8526227be_0_4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3a8526227be_0_4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8526227be_0_4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g3a8526227be_0_4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8526227be_0_4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g3a8526227be_0_4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8526227be_0_4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g3a8526227be_0_4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8526227be_0_4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a8526227be_0_4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8526227be_0_4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g3a8526227be_0_4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8526227be_0_4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3a8526227be_0_4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8526227be_0_4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a8526227be_0_4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8547cae72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g3a8547cae72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8547cae72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3a8547cae72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8526227be_0_5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g3a8526227be_0_5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8526227be_0_5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g3a8526227be_0_5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a8526227be_0_5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g3a8526227be_0_5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8547cae72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a8547cae72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8526227be_0_5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g3a8526227be_0_5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8526227be_0_5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3a8526227be_0_5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8526227be_0_5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3a8526227be_0_5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8526227be_0_5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g3a8526227be_0_5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8526227be_0_5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g3a8526227be_0_5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8526227be_0_5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g3a8526227be_0_5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1765c35bc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g3e1765c35bc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e1765c35bc_1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g3e1765c35bc_1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e1765c35bc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g3e1765c35bc_1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1765c35bc_1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e1765c35bc_1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e1765c35bc_1_4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g3e1765c35bc_1_4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e1765c35bc_1_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g3e1765c35bc_1_4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e1765c35bc_1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g3e1765c35bc_1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e1765c35bc_1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g3e1765c35bc_1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e1765c35bc_1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5" name="Google Shape;365;g3e1765c35bc_1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e1765c35bc_1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4" name="Google Shape;374;g3e1765c35bc_1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e1765c35bc_1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g3e1765c35bc_1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e1765c35bc_1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1" name="Google Shape;391;g3e1765c35bc_1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e1765c35bc_1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9" name="Google Shape;399;g3e1765c35bc_1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e1765c35bc_1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8" name="Google Shape;408;g3e1765c35bc_1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e1765c35bc_1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7" name="Google Shape;417;g3e1765c35bc_1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e1765c35bc_1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6" name="Google Shape;426;g3e1765c35bc_1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e1765c35bc_1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g3e1765c35bc_1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1765c35bc_1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g3e1765c35bc_1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e1765c35bc_1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2" name="Google Shape;452;g3e1765c35bc_1_1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e1765c35bc_1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0" name="Google Shape;460;g3e1765c35bc_1_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e1765c35bc_1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8" name="Google Shape;468;g3e1765c35bc_1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e1765c35bc_1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6" name="Google Shape;476;g3e1765c35bc_1_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e1765c35bc_1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4" name="Google Shape;484;g3e1765c35bc_1_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e1765c35bc_1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2" name="Google Shape;492;g3e1765c35bc_1_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e1765c35bc_1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0" name="Google Shape;500;g3e1765c35bc_1_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e1765c35bc_1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8" name="Google Shape;508;g3e1765c35bc_1_1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e1765c35bc_1_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6" name="Google Shape;516;g3e1765c35bc_1_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e1765c35bc_1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4" name="Google Shape;524;g3e1765c35bc_1_1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e1765c35bc_1_1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2" name="Google Shape;532;g3e1765c35bc_1_1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e1765c35bc_1_1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0" name="Google Shape;540;g3e1765c35bc_1_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e1765c35bc_1_2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8" name="Google Shape;548;g3e1765c35bc_1_2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e1765c35bc_1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8" name="Google Shape;558;g3e1765c35bc_1_2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e1765c35bc_1_2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6" name="Google Shape;566;g3e1765c35bc_1_2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e1765c35bc_1_2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4" name="Google Shape;574;g3e1765c35bc_1_2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e1765c35bc_1_2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2" name="Google Shape;582;g3e1765c35bc_1_2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e1765c35bc_1_2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0" name="Google Shape;590;g3e1765c35bc_1_2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e1765c35bc_1_2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8" name="Google Shape;598;g3e1765c35bc_1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e1765c35bc_1_2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6" name="Google Shape;606;g3e1765c35bc_1_2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e1765c35bc_1_2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5" name="Google Shape;615;g3e1765c35bc_1_2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e1765c35bc_1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3" name="Google Shape;623;g3e1765c35bc_1_2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e1765c35bc_1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1" name="Google Shape;631;g3e1765c35bc_1_2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e1765c35bc_1_2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9" name="Google Shape;639;g3e1765c35bc_1_2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e1765c35bc_1_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7" name="Google Shape;647;g3e1765c35bc_1_2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e1765c35bc_1_2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5" name="Google Shape;655;g3e1765c35bc_1_2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e1765c35bc_1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5" name="Google Shape;665;g3e1765c35bc_1_3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e1765c35bc_1_3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3" name="Google Shape;673;g3e1765c35bc_1_3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1765c35bc_1_3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1" name="Google Shape;681;g3e1765c35bc_1_3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e1765c35bc_1_3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9" name="Google Shape;689;g3e1765c35bc_1_3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e1765c35bc_1_3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7" name="Google Shape;697;g3e1765c35bc_1_3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a8526227be_0_6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5" name="Google Shape;705;g3a8526227be_0_6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a8526227be_0_6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2" name="Google Shape;712;g3a8526227be_0_6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4"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p:txBody>
      </p:sp>
      <p:sp>
        <p:nvSpPr>
          <p:cNvPr id="18" name="Google Shape;18;p2"/>
          <p:cNvSpPr txBox="1"/>
          <p:nvPr>
            <p:ph idx="10" type="dt"/>
          </p:nvPr>
        </p:nvSpPr>
        <p:spPr>
          <a:xfrm>
            <a:off x="7605951" y="5956137"/>
            <a:ext cx="28448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10558300" y="5956137"/>
            <a:ext cx="10164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25" name="Google Shape;25;p3"/>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2" type="sldNum"/>
          </p:nvPr>
        </p:nvSpPr>
        <p:spPr>
          <a:xfrm>
            <a:off x="10558300" y="5956137"/>
            <a:ext cx="105250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8"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
          <p:cNvSpPr txBox="1"/>
          <p:nvPr>
            <p:ph type="title"/>
          </p:nvPr>
        </p:nvSpPr>
        <p:spPr>
          <a:xfrm>
            <a:off x="581193" y="3043910"/>
            <a:ext cx="11029615" cy="14975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b="0" sz="360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656"/>
              <a:buNone/>
              <a:defRPr sz="1800" cap="none">
                <a:solidFill>
                  <a:schemeClr val="accent2"/>
                </a:solidFill>
              </a:defRPr>
            </a:lvl1pPr>
            <a:lvl2pPr indent="-228600" lvl="1" marL="914400" algn="l">
              <a:lnSpc>
                <a:spcPct val="100000"/>
              </a:lnSpc>
              <a:spcBef>
                <a:spcPts val="600"/>
              </a:spcBef>
              <a:spcAft>
                <a:spcPts val="0"/>
              </a:spcAft>
              <a:buSzPts val="1656"/>
              <a:buNone/>
              <a:defRPr sz="1800">
                <a:solidFill>
                  <a:srgbClr val="888888"/>
                </a:solidFill>
              </a:defRPr>
            </a:lvl2pPr>
            <a:lvl3pPr indent="-228600" lvl="2" marL="1371600" algn="l">
              <a:lnSpc>
                <a:spcPct val="100000"/>
              </a:lnSpc>
              <a:spcBef>
                <a:spcPts val="600"/>
              </a:spcBef>
              <a:spcAft>
                <a:spcPts val="0"/>
              </a:spcAft>
              <a:buSzPts val="1472"/>
              <a:buNone/>
              <a:defRPr sz="1600">
                <a:solidFill>
                  <a:srgbClr val="888888"/>
                </a:solidFill>
              </a:defRPr>
            </a:lvl3pPr>
            <a:lvl4pPr indent="-228600" lvl="3" marL="1828800" algn="l">
              <a:lnSpc>
                <a:spcPct val="100000"/>
              </a:lnSpc>
              <a:spcBef>
                <a:spcPts val="600"/>
              </a:spcBef>
              <a:spcAft>
                <a:spcPts val="0"/>
              </a:spcAft>
              <a:buSzPts val="1288"/>
              <a:buNone/>
              <a:defRPr sz="1400">
                <a:solidFill>
                  <a:srgbClr val="888888"/>
                </a:solidFill>
              </a:defRPr>
            </a:lvl4pPr>
            <a:lvl5pPr indent="-228600" lvl="4" marL="2286000" algn="l">
              <a:lnSpc>
                <a:spcPct val="100000"/>
              </a:lnSpc>
              <a:spcBef>
                <a:spcPts val="600"/>
              </a:spcBef>
              <a:spcAft>
                <a:spcPts val="0"/>
              </a:spcAft>
              <a:buSzPts val="1288"/>
              <a:buNone/>
              <a:defRPr sz="1400">
                <a:solidFill>
                  <a:srgbClr val="888888"/>
                </a:solidFill>
              </a:defRPr>
            </a:lvl5pPr>
            <a:lvl6pPr indent="-228600" lvl="5" marL="2743200" algn="l">
              <a:lnSpc>
                <a:spcPct val="100000"/>
              </a:lnSpc>
              <a:spcBef>
                <a:spcPts val="600"/>
              </a:spcBef>
              <a:spcAft>
                <a:spcPts val="0"/>
              </a:spcAft>
              <a:buSzPts val="1288"/>
              <a:buNone/>
              <a:defRPr sz="1400">
                <a:solidFill>
                  <a:srgbClr val="888888"/>
                </a:solidFill>
              </a:defRPr>
            </a:lvl6pPr>
            <a:lvl7pPr indent="-228600" lvl="6" marL="3200400" algn="l">
              <a:lnSpc>
                <a:spcPct val="100000"/>
              </a:lnSpc>
              <a:spcBef>
                <a:spcPts val="600"/>
              </a:spcBef>
              <a:spcAft>
                <a:spcPts val="0"/>
              </a:spcAft>
              <a:buSzPts val="1288"/>
              <a:buNone/>
              <a:defRPr sz="1400">
                <a:solidFill>
                  <a:srgbClr val="888888"/>
                </a:solidFill>
              </a:defRPr>
            </a:lvl7pPr>
            <a:lvl8pPr indent="-228600" lvl="7" marL="3657600" algn="l">
              <a:lnSpc>
                <a:spcPct val="100000"/>
              </a:lnSpc>
              <a:spcBef>
                <a:spcPts val="600"/>
              </a:spcBef>
              <a:spcAft>
                <a:spcPts val="0"/>
              </a:spcAft>
              <a:buSzPts val="1288"/>
              <a:buNone/>
              <a:defRPr sz="1400">
                <a:solidFill>
                  <a:srgbClr val="888888"/>
                </a:solidFill>
              </a:defRPr>
            </a:lvl8pPr>
            <a:lvl9pPr indent="-228600" lvl="8" marL="4114800" algn="l">
              <a:lnSpc>
                <a:spcPct val="100000"/>
              </a:lnSpc>
              <a:spcBef>
                <a:spcPts val="600"/>
              </a:spcBef>
              <a:spcAft>
                <a:spcPts val="600"/>
              </a:spcAft>
              <a:buSzPts val="1288"/>
              <a:buNone/>
              <a:defRPr sz="1400">
                <a:solidFill>
                  <a:srgbClr val="888888"/>
                </a:solidFill>
              </a:defRPr>
            </a:lvl9pPr>
          </a:lstStyle>
          <a:p/>
        </p:txBody>
      </p:sp>
      <p:sp>
        <p:nvSpPr>
          <p:cNvPr id="32" name="Google Shape;32;p4"/>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5"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5"/>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 type="body"/>
          </p:nvPr>
        </p:nvSpPr>
        <p:spPr>
          <a:xfrm>
            <a:off x="581193" y="2228003"/>
            <a:ext cx="5422390"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39" name="Google Shape;39;p5"/>
          <p:cNvSpPr txBox="1"/>
          <p:nvPr>
            <p:ph idx="2" type="body"/>
          </p:nvPr>
        </p:nvSpPr>
        <p:spPr>
          <a:xfrm>
            <a:off x="6188417" y="2228003"/>
            <a:ext cx="5422392"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40" name="Google Shape;40;p5"/>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3"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6"/>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 type="body"/>
          </p:nvPr>
        </p:nvSpPr>
        <p:spPr>
          <a:xfrm>
            <a:off x="887219" y="2250892"/>
            <a:ext cx="5087075" cy="536005"/>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47" name="Google Shape;47;p6"/>
          <p:cNvSpPr txBox="1"/>
          <p:nvPr>
            <p:ph idx="2" type="body"/>
          </p:nvPr>
        </p:nvSpPr>
        <p:spPr>
          <a:xfrm>
            <a:off x="581194"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48" name="Google Shape;48;p6"/>
          <p:cNvSpPr txBox="1"/>
          <p:nvPr>
            <p:ph idx="3" type="body"/>
          </p:nvPr>
        </p:nvSpPr>
        <p:spPr>
          <a:xfrm>
            <a:off x="6523735" y="2250892"/>
            <a:ext cx="5087073" cy="553373"/>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49" name="Google Shape;49;p6"/>
          <p:cNvSpPr txBox="1"/>
          <p:nvPr>
            <p:ph idx="4" type="body"/>
          </p:nvPr>
        </p:nvSpPr>
        <p:spPr>
          <a:xfrm>
            <a:off x="6217709"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50" name="Google Shape;50;p6"/>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7"/>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7"/>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9" name="Shape 59"/>
        <p:cNvGrpSpPr/>
        <p:nvPr/>
      </p:nvGrpSpPr>
      <p:grpSpPr>
        <a:xfrm>
          <a:off x="0" y="0"/>
          <a:ext cx="0" cy="0"/>
          <a:chOff x="0" y="0"/>
          <a:chExt cx="0" cy="0"/>
        </a:xfrm>
      </p:grpSpPr>
      <p:sp>
        <p:nvSpPr>
          <p:cNvPr id="60" name="Google Shape;60;p8"/>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8"/>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3"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txBox="1"/>
          <p:nvPr>
            <p:ph type="title"/>
          </p:nvPr>
        </p:nvSpPr>
        <p:spPr>
          <a:xfrm>
            <a:off x="581192" y="5262296"/>
            <a:ext cx="4909445" cy="6895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D58AC"/>
              </a:buClr>
              <a:buSzPts val="2000"/>
              <a:buFont typeface="Gill Sans"/>
              <a:buNone/>
              <a:defRPr b="0" sz="200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
          <p:cNvSpPr txBox="1"/>
          <p:nvPr>
            <p:ph idx="1" type="body"/>
          </p:nvPr>
        </p:nvSpPr>
        <p:spPr>
          <a:xfrm>
            <a:off x="447816" y="601200"/>
            <a:ext cx="11292840" cy="4204800"/>
          </a:xfrm>
          <a:prstGeom prst="rect">
            <a:avLst/>
          </a:prstGeom>
          <a:noFill/>
          <a:ln>
            <a:noFill/>
          </a:ln>
        </p:spPr>
        <p:txBody>
          <a:bodyPr anchorCtr="0" anchor="ctr" bIns="45700" lIns="91425" spcFirstLastPara="1" rIns="91425" wrap="square" tIns="45700">
            <a:normAutofit/>
          </a:bodyPr>
          <a:lstStyle>
            <a:lvl1pPr indent="-345440" lvl="0" marL="457200" algn="l">
              <a:lnSpc>
                <a:spcPct val="100000"/>
              </a:lnSpc>
              <a:spcBef>
                <a:spcPts val="400"/>
              </a:spcBef>
              <a:spcAft>
                <a:spcPts val="0"/>
              </a:spcAft>
              <a:buSzPts val="1840"/>
              <a:buChar char="◼"/>
              <a:defRPr sz="2000">
                <a:solidFill>
                  <a:schemeClr val="dk2"/>
                </a:solidFill>
              </a:defRPr>
            </a:lvl1pPr>
            <a:lvl2pPr indent="-333756" lvl="1" marL="914400" algn="l">
              <a:lnSpc>
                <a:spcPct val="100000"/>
              </a:lnSpc>
              <a:spcBef>
                <a:spcPts val="600"/>
              </a:spcBef>
              <a:spcAft>
                <a:spcPts val="0"/>
              </a:spcAft>
              <a:buSzPts val="1656"/>
              <a:buChar char="◼"/>
              <a:defRPr sz="1800">
                <a:solidFill>
                  <a:schemeClr val="dk2"/>
                </a:solidFill>
              </a:defRPr>
            </a:lvl2pPr>
            <a:lvl3pPr indent="-322072" lvl="2" marL="1371600" algn="l">
              <a:lnSpc>
                <a:spcPct val="100000"/>
              </a:lnSpc>
              <a:spcBef>
                <a:spcPts val="600"/>
              </a:spcBef>
              <a:spcAft>
                <a:spcPts val="0"/>
              </a:spcAft>
              <a:buSzPts val="1472"/>
              <a:buChar char="◼"/>
              <a:defRPr sz="1600">
                <a:solidFill>
                  <a:schemeClr val="dk2"/>
                </a:solidFill>
              </a:defRPr>
            </a:lvl3pPr>
            <a:lvl4pPr indent="-310388" lvl="3" marL="1828800" algn="l">
              <a:lnSpc>
                <a:spcPct val="100000"/>
              </a:lnSpc>
              <a:spcBef>
                <a:spcPts val="600"/>
              </a:spcBef>
              <a:spcAft>
                <a:spcPts val="0"/>
              </a:spcAft>
              <a:buSzPts val="1288"/>
              <a:buChar char="◼"/>
              <a:defRPr sz="1400">
                <a:solidFill>
                  <a:schemeClr val="dk2"/>
                </a:solidFill>
              </a:defRPr>
            </a:lvl4pPr>
            <a:lvl5pPr indent="-310388" lvl="4" marL="2286000" algn="l">
              <a:lnSpc>
                <a:spcPct val="100000"/>
              </a:lnSpc>
              <a:spcBef>
                <a:spcPts val="600"/>
              </a:spcBef>
              <a:spcAft>
                <a:spcPts val="0"/>
              </a:spcAft>
              <a:buSzPts val="1288"/>
              <a:buChar char="◼"/>
              <a:defRPr sz="1400">
                <a:solidFill>
                  <a:schemeClr val="dk2"/>
                </a:solidFill>
              </a:defRPr>
            </a:lvl5pPr>
            <a:lvl6pPr indent="-310388" lvl="5" marL="2743200" algn="l">
              <a:lnSpc>
                <a:spcPct val="100000"/>
              </a:lnSpc>
              <a:spcBef>
                <a:spcPts val="600"/>
              </a:spcBef>
              <a:spcAft>
                <a:spcPts val="0"/>
              </a:spcAft>
              <a:buSzPts val="1288"/>
              <a:buChar char="◼"/>
              <a:defRPr sz="1400">
                <a:solidFill>
                  <a:schemeClr val="dk2"/>
                </a:solidFill>
              </a:defRPr>
            </a:lvl6pPr>
            <a:lvl7pPr indent="-310388" lvl="6" marL="3200400" algn="l">
              <a:lnSpc>
                <a:spcPct val="100000"/>
              </a:lnSpc>
              <a:spcBef>
                <a:spcPts val="600"/>
              </a:spcBef>
              <a:spcAft>
                <a:spcPts val="0"/>
              </a:spcAft>
              <a:buSzPts val="1288"/>
              <a:buChar char="◼"/>
              <a:defRPr sz="1400">
                <a:solidFill>
                  <a:schemeClr val="dk2"/>
                </a:solidFill>
              </a:defRPr>
            </a:lvl7pPr>
            <a:lvl8pPr indent="-310388" lvl="7" marL="3657600" algn="l">
              <a:lnSpc>
                <a:spcPct val="100000"/>
              </a:lnSpc>
              <a:spcBef>
                <a:spcPts val="600"/>
              </a:spcBef>
              <a:spcAft>
                <a:spcPts val="0"/>
              </a:spcAft>
              <a:buSzPts val="1288"/>
              <a:buChar char="◼"/>
              <a:defRPr sz="1400">
                <a:solidFill>
                  <a:schemeClr val="dk2"/>
                </a:solidFill>
              </a:defRPr>
            </a:lvl8pPr>
            <a:lvl9pPr indent="-310388" lvl="8" marL="4114800" algn="l">
              <a:lnSpc>
                <a:spcPct val="100000"/>
              </a:lnSpc>
              <a:spcBef>
                <a:spcPts val="600"/>
              </a:spcBef>
              <a:spcAft>
                <a:spcPts val="600"/>
              </a:spcAft>
              <a:buSzPts val="1288"/>
              <a:buChar char="◼"/>
              <a:defRPr sz="1400">
                <a:solidFill>
                  <a:schemeClr val="dk2"/>
                </a:solidFill>
              </a:defRPr>
            </a:lvl9pPr>
          </a:lstStyle>
          <a:p/>
        </p:txBody>
      </p:sp>
      <p:sp>
        <p:nvSpPr>
          <p:cNvPr id="67" name="Google Shape;67;p9"/>
          <p:cNvSpPr txBox="1"/>
          <p:nvPr>
            <p:ph idx="2" type="body"/>
          </p:nvPr>
        </p:nvSpPr>
        <p:spPr>
          <a:xfrm>
            <a:off x="5740823" y="5262296"/>
            <a:ext cx="5869987" cy="689515"/>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220"/>
              </a:spcBef>
              <a:spcAft>
                <a:spcPts val="0"/>
              </a:spcAft>
              <a:buSzPts val="1012"/>
              <a:buNone/>
              <a:defRPr sz="1100">
                <a:solidFill>
                  <a:schemeClr val="lt1"/>
                </a:solidFill>
              </a:defRPr>
            </a:lvl1pPr>
            <a:lvl2pPr indent="-228600" lvl="1" marL="914400" algn="l">
              <a:lnSpc>
                <a:spcPct val="100000"/>
              </a:lnSpc>
              <a:spcBef>
                <a:spcPts val="600"/>
              </a:spcBef>
              <a:spcAft>
                <a:spcPts val="0"/>
              </a:spcAft>
              <a:buSzPts val="1012"/>
              <a:buNone/>
              <a:defRPr sz="11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68" name="Google Shape;68;p9"/>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9"/>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400"/>
              <a:buFont typeface="Gill Sans"/>
              <a:buNone/>
              <a:defRPr b="0" sz="2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
          <p:cNvSpPr/>
          <p:nvPr>
            <p:ph idx="2" type="pic"/>
          </p:nvPr>
        </p:nvSpPr>
        <p:spPr>
          <a:xfrm>
            <a:off x="447817" y="599725"/>
            <a:ext cx="11290859" cy="3557252"/>
          </a:xfrm>
          <a:prstGeom prst="rect">
            <a:avLst/>
          </a:prstGeom>
          <a:noFill/>
          <a:ln>
            <a:noFill/>
          </a:ln>
        </p:spPr>
      </p:sp>
      <p:sp>
        <p:nvSpPr>
          <p:cNvPr id="74" name="Google Shape;74;p10"/>
          <p:cNvSpPr txBox="1"/>
          <p:nvPr>
            <p:ph idx="1" type="body"/>
          </p:nvPr>
        </p:nvSpPr>
        <p:spPr>
          <a:xfrm>
            <a:off x="581192" y="5260127"/>
            <a:ext cx="11029617" cy="598671"/>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240"/>
              </a:spcBef>
              <a:spcAft>
                <a:spcPts val="0"/>
              </a:spcAft>
              <a:buSzPts val="1104"/>
              <a:buNone/>
              <a:defRPr sz="1200"/>
            </a:lvl1pPr>
            <a:lvl2pPr indent="-228600" lvl="1" marL="914400" algn="l">
              <a:lnSpc>
                <a:spcPct val="100000"/>
              </a:lnSpc>
              <a:spcBef>
                <a:spcPts val="600"/>
              </a:spcBef>
              <a:spcAft>
                <a:spcPts val="0"/>
              </a:spcAft>
              <a:buSzPts val="1104"/>
              <a:buNone/>
              <a:defRPr sz="12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75" name="Google Shape;75;p10"/>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0"/>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8"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1"/>
          <p:cNvSpPr txBox="1"/>
          <p:nvPr>
            <p:ph idx="1" type="body"/>
          </p:nvPr>
        </p:nvSpPr>
        <p:spPr>
          <a:xfrm rot="5400000">
            <a:off x="4334603" y="-1417408"/>
            <a:ext cx="3522794" cy="11029616"/>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22072" lvl="1" marL="914400" algn="l">
              <a:lnSpc>
                <a:spcPct val="100000"/>
              </a:lnSpc>
              <a:spcBef>
                <a:spcPts val="600"/>
              </a:spcBef>
              <a:spcAft>
                <a:spcPts val="0"/>
              </a:spcAft>
              <a:buSzPts val="1472"/>
              <a:buChar char="◼"/>
              <a:defRPr/>
            </a:lvl2pPr>
            <a:lvl3pPr indent="-310388" lvl="2" marL="1371600" algn="l">
              <a:lnSpc>
                <a:spcPct val="100000"/>
              </a:lnSpc>
              <a:spcBef>
                <a:spcPts val="600"/>
              </a:spcBef>
              <a:spcAft>
                <a:spcPts val="0"/>
              </a:spcAft>
              <a:buSzPts val="1288"/>
              <a:buChar char="◼"/>
              <a:defRPr/>
            </a:lvl3pPr>
            <a:lvl4pPr indent="-298704" lvl="3" marL="1828800" algn="l">
              <a:lnSpc>
                <a:spcPct val="100000"/>
              </a:lnSpc>
              <a:spcBef>
                <a:spcPts val="600"/>
              </a:spcBef>
              <a:spcAft>
                <a:spcPts val="0"/>
              </a:spcAft>
              <a:buSzPts val="1104"/>
              <a:buChar char="◼"/>
              <a:defRPr/>
            </a:lvl4pPr>
            <a:lvl5pPr indent="-298704" lvl="4" marL="2286000" algn="l">
              <a:lnSpc>
                <a:spcPct val="100000"/>
              </a:lnSpc>
              <a:spcBef>
                <a:spcPts val="600"/>
              </a:spcBef>
              <a:spcAft>
                <a:spcPts val="0"/>
              </a:spcAft>
              <a:buSzPts val="1104"/>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82" name="Google Shape;82;p1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5"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2"/>
          <p:cNvSpPr txBox="1"/>
          <p:nvPr>
            <p:ph type="title"/>
          </p:nvPr>
        </p:nvSpPr>
        <p:spPr>
          <a:xfrm rot="5400000">
            <a:off x="7249746" y="2265181"/>
            <a:ext cx="5183073" cy="20041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2"/>
          <p:cNvSpPr txBox="1"/>
          <p:nvPr>
            <p:ph idx="1" type="body"/>
          </p:nvPr>
        </p:nvSpPr>
        <p:spPr>
          <a:xfrm rot="5400000">
            <a:off x="2131526" y="-680877"/>
            <a:ext cx="5183073" cy="789627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89" name="Google Shape;89;p12"/>
          <p:cNvSpPr txBox="1"/>
          <p:nvPr>
            <p:ph idx="10" type="dt"/>
          </p:nvPr>
        </p:nvSpPr>
        <p:spPr>
          <a:xfrm>
            <a:off x="8993673" y="5956137"/>
            <a:ext cx="1328141"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2"/>
          <p:cNvSpPr txBox="1"/>
          <p:nvPr>
            <p:ph idx="11" type="ftr"/>
          </p:nvPr>
        </p:nvSpPr>
        <p:spPr>
          <a:xfrm>
            <a:off x="774923" y="5951811"/>
            <a:ext cx="789627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2"/>
          <p:cNvSpPr txBox="1"/>
          <p:nvPr>
            <p:ph idx="12" type="sldNum"/>
          </p:nvPr>
        </p:nvSpPr>
        <p:spPr>
          <a:xfrm>
            <a:off x="10446615" y="5956137"/>
            <a:ext cx="116419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lt1"/>
              </a:buClr>
              <a:buSzPts val="2800"/>
              <a:buFont typeface="Gill Sans"/>
              <a:buNone/>
              <a:defRPr b="0" i="0" sz="280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581192" y="2336003"/>
            <a:ext cx="11029616" cy="3522794"/>
          </a:xfrm>
          <a:prstGeom prst="rect">
            <a:avLst/>
          </a:prstGeom>
          <a:noFill/>
          <a:ln>
            <a:noFill/>
          </a:ln>
        </p:spPr>
        <p:txBody>
          <a:bodyPr anchorCtr="0" anchor="ctr" bIns="45700" lIns="91425" spcFirstLastPara="1" rIns="91425" wrap="square" tIns="45700">
            <a:normAutofit/>
          </a:bodyPr>
          <a:lstStyle>
            <a:lvl1pPr indent="-333756" lvl="0" marL="457200" marR="0" rtl="0" algn="l">
              <a:lnSpc>
                <a:spcPct val="100000"/>
              </a:lnSpc>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lnSpc>
                <a:spcPct val="100000"/>
              </a:lnSpc>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lnSpc>
                <a:spcPct val="100000"/>
              </a:lnSpc>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4" lvl="3" marL="18288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4" lvl="7" marL="36576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4" lvl="8" marL="4114800" marR="0" rtl="0" algn="l">
              <a:lnSpc>
                <a:spcPct val="100000"/>
              </a:lnSpc>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8" name="Google Shape;8;p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900" u="none" cap="none" strike="noStrike">
                <a:solidFill>
                  <a:schemeClr val="accent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9" name="Google Shape;9;p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accent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0" name="Google Shape;10;p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8.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7.png"/><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4.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3.png"/><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3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3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3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3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3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3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3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ctrTitle"/>
          </p:nvPr>
        </p:nvSpPr>
        <p:spPr>
          <a:xfrm>
            <a:off x="599226" y="3158569"/>
            <a:ext cx="10993549" cy="1578409"/>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3600"/>
              <a:buFont typeface="Gill Sans"/>
              <a:buNone/>
            </a:pPr>
            <a:r>
              <a:rPr lang="es-ES">
                <a:solidFill>
                  <a:schemeClr val="lt1"/>
                </a:solidFill>
              </a:rPr>
              <a:t>MANUAL</a:t>
            </a:r>
            <a:br>
              <a:rPr lang="es-ES">
                <a:solidFill>
                  <a:schemeClr val="lt1"/>
                </a:solidFill>
              </a:rPr>
            </a:br>
            <a:r>
              <a:rPr lang="es-ES">
                <a:solidFill>
                  <a:schemeClr val="lt1"/>
                </a:solidFill>
              </a:rPr>
              <a:t>CONVERSIÓN UNIDADES RESTful </a:t>
            </a:r>
            <a:r>
              <a:rPr lang="es-ES">
                <a:solidFill>
                  <a:schemeClr val="lt1"/>
                </a:solidFill>
              </a:rPr>
              <a:t>JAVA</a:t>
            </a:r>
            <a:endParaRPr/>
          </a:p>
        </p:txBody>
      </p:sp>
      <p:sp>
        <p:nvSpPr>
          <p:cNvPr id="97" name="Google Shape;97;p13"/>
          <p:cNvSpPr txBox="1"/>
          <p:nvPr>
            <p:ph idx="1" type="subTitle"/>
          </p:nvPr>
        </p:nvSpPr>
        <p:spPr>
          <a:xfrm>
            <a:off x="599226" y="4572000"/>
            <a:ext cx="4261531" cy="1812758"/>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72"/>
              <a:buNone/>
            </a:pPr>
            <a:r>
              <a:t/>
            </a:r>
            <a:endParaRPr b="1">
              <a:solidFill>
                <a:schemeClr val="lt1"/>
              </a:solidFill>
            </a:endParaRPr>
          </a:p>
          <a:p>
            <a:pPr indent="0" lvl="0" marL="0" rtl="0" algn="l">
              <a:lnSpc>
                <a:spcPct val="100000"/>
              </a:lnSpc>
              <a:spcBef>
                <a:spcPts val="920"/>
              </a:spcBef>
              <a:spcAft>
                <a:spcPts val="0"/>
              </a:spcAft>
              <a:buSzPts val="1472"/>
              <a:buNone/>
            </a:pPr>
            <a:r>
              <a:rPr b="1" lang="es-ES">
                <a:solidFill>
                  <a:schemeClr val="lt1"/>
                </a:solidFill>
              </a:rPr>
              <a:t>INTEGRANTES:</a:t>
            </a:r>
            <a:r>
              <a:rPr lang="es-ES">
                <a:solidFill>
                  <a:schemeClr val="lt1"/>
                </a:solidFill>
              </a:rPr>
              <a:t> 	BENAVIDES RUBEN					GUEVARA ARIEL			         	MUNARCO JHON</a:t>
            </a:r>
            <a:endParaRPr>
              <a:solidFill>
                <a:schemeClr val="lt1"/>
              </a:solidFill>
            </a:endParaRPr>
          </a:p>
        </p:txBody>
      </p:sp>
      <p:pic>
        <p:nvPicPr>
          <p:cNvPr descr="Resultado de imagen para espe" id="98" name="Google Shape;98;p13"/>
          <p:cNvPicPr preferRelativeResize="0"/>
          <p:nvPr/>
        </p:nvPicPr>
        <p:blipFill rotWithShape="1">
          <a:blip r:embed="rId3">
            <a:alphaModFix/>
          </a:blip>
          <a:srcRect b="0" l="0" r="0" t="0"/>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4590B8"/>
              </a:buClr>
              <a:buSzPts val="1472"/>
              <a:buFont typeface="Noto Sans Symbols"/>
              <a:buNone/>
            </a:pPr>
            <a:r>
              <a:rPr b="1" i="0" lang="es-ES" sz="1600" u="none" cap="none" strike="noStrike">
                <a:solidFill>
                  <a:srgbClr val="FFFFFF"/>
                </a:solidFill>
                <a:latin typeface="Gill Sans"/>
                <a:ea typeface="Gill Sans"/>
                <a:cs typeface="Gill Sans"/>
                <a:sym typeface="Gill Sans"/>
              </a:rPr>
              <a:t>FECHA:  </a:t>
            </a:r>
            <a:r>
              <a:rPr b="1" lang="es-ES" sz="1600">
                <a:solidFill>
                  <a:srgbClr val="FFFFFF"/>
                </a:solidFill>
                <a:latin typeface="Gill Sans"/>
                <a:ea typeface="Gill Sans"/>
                <a:cs typeface="Gill Sans"/>
                <a:sym typeface="Gill Sans"/>
              </a:rPr>
              <a:t>13/05/2025</a:t>
            </a:r>
            <a:endParaRPr b="0" i="0" sz="1600" u="none" cap="none" strike="noStrike">
              <a:solidFill>
                <a:srgbClr val="FFFFFF"/>
              </a:solidFill>
              <a:latin typeface="Gill Sans"/>
              <a:ea typeface="Gill Sans"/>
              <a:cs typeface="Gill Sans"/>
              <a:sym typeface="Gill Sans"/>
            </a:endParaRPr>
          </a:p>
          <a:p>
            <a:pPr indent="0" lvl="0" marL="0" marR="0" rtl="0" algn="l">
              <a:lnSpc>
                <a:spcPct val="100000"/>
              </a:lnSpc>
              <a:spcBef>
                <a:spcPts val="920"/>
              </a:spcBef>
              <a:spcAft>
                <a:spcPts val="0"/>
              </a:spcAft>
              <a:buClr>
                <a:srgbClr val="4590B8"/>
              </a:buClr>
              <a:buSzPts val="1472"/>
              <a:buFont typeface="Noto Sans Symbols"/>
              <a:buNone/>
            </a:pPr>
            <a:r>
              <a:rPr b="1" i="0" lang="es-ES" sz="1600" u="none" cap="none" strike="noStrike">
                <a:solidFill>
                  <a:srgbClr val="FFFFFF"/>
                </a:solidFill>
                <a:latin typeface="Gill Sans"/>
                <a:ea typeface="Gill Sans"/>
                <a:cs typeface="Gill Sans"/>
                <a:sym typeface="Gill Sans"/>
              </a:rPr>
              <a:t>ING: </a:t>
            </a:r>
            <a:r>
              <a:rPr b="0" i="0" lang="es-ES" sz="1600" u="none" cap="none" strike="noStrike">
                <a:solidFill>
                  <a:srgbClr val="FFFFFF"/>
                </a:solidFill>
                <a:latin typeface="Gill Sans"/>
                <a:ea typeface="Gill Sans"/>
                <a:cs typeface="Gill Sans"/>
                <a:sym typeface="Gill Sans"/>
              </a:rPr>
              <a:t>CAMPAÑA MAURICIO</a:t>
            </a:r>
            <a:endParaRPr b="1" i="0" sz="1600" u="none" cap="none" strike="noStrike">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Gill Sans"/>
              <a:buNone/>
            </a:pPr>
            <a:r>
              <a:rPr b="0" i="0" lang="es-ES" sz="2000" u="none" cap="none" strike="noStrike">
                <a:solidFill>
                  <a:srgbClr val="000000"/>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ill Sans"/>
              <a:buNone/>
            </a:pPr>
            <a:r>
              <a:t/>
            </a:r>
            <a:endParaRPr b="0" i="0" sz="1800" u="none" cap="none" strike="noStrik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07" name="Google Shape;107;p14"/>
          <p:cNvSpPr txBox="1"/>
          <p:nvPr>
            <p:ph idx="1" type="body"/>
          </p:nvPr>
        </p:nvSpPr>
        <p:spPr>
          <a:xfrm>
            <a:off x="596348" y="701336"/>
            <a:ext cx="3389726" cy="5424255"/>
          </a:xfrm>
          <a:prstGeom prst="rect">
            <a:avLst/>
          </a:prstGeom>
          <a:noFill/>
          <a:ln>
            <a:noFill/>
          </a:ln>
        </p:spPr>
        <p:txBody>
          <a:bodyPr anchorCtr="0" anchor="ctr" bIns="45700" lIns="91425" spcFirstLastPara="1" rIns="91425" wrap="square" tIns="45700">
            <a:normAutofit lnSpcReduction="10000"/>
          </a:bodyPr>
          <a:lstStyle/>
          <a:p>
            <a:pPr indent="-306000" lvl="0" marL="306000" rtl="0" algn="l">
              <a:lnSpc>
                <a:spcPct val="100000"/>
              </a:lnSpc>
              <a:spcBef>
                <a:spcPts val="0"/>
              </a:spcBef>
              <a:spcAft>
                <a:spcPts val="0"/>
              </a:spcAft>
              <a:buSzPts val="1656"/>
              <a:buChar char="◼"/>
            </a:pPr>
            <a:r>
              <a:rPr lang="es-ES">
                <a:solidFill>
                  <a:schemeClr val="lt1"/>
                </a:solidFill>
              </a:rPr>
              <a:t>DESARROLLO</a:t>
            </a:r>
            <a:endParaRPr/>
          </a:p>
          <a:p>
            <a:pPr indent="-320020" lvl="1" marL="630000" rtl="0" algn="l">
              <a:lnSpc>
                <a:spcPct val="100000"/>
              </a:lnSpc>
              <a:spcBef>
                <a:spcPts val="872"/>
              </a:spcBef>
              <a:spcAft>
                <a:spcPts val="0"/>
              </a:spcAft>
              <a:buSzPts val="1472"/>
              <a:buChar char="◼"/>
            </a:pPr>
            <a:r>
              <a:rPr lang="es-ES">
                <a:solidFill>
                  <a:schemeClr val="lt1"/>
                </a:solidFill>
              </a:rPr>
              <a:t>OBJETIVO</a:t>
            </a:r>
            <a:endParaRPr/>
          </a:p>
          <a:p>
            <a:pPr indent="-320020" lvl="1" marL="630000" rtl="0" algn="l">
              <a:lnSpc>
                <a:spcPct val="100000"/>
              </a:lnSpc>
              <a:spcBef>
                <a:spcPts val="872"/>
              </a:spcBef>
              <a:spcAft>
                <a:spcPts val="0"/>
              </a:spcAft>
              <a:buSzPts val="1472"/>
              <a:buChar char="◼"/>
            </a:pPr>
            <a:r>
              <a:rPr lang="es-ES">
                <a:solidFill>
                  <a:schemeClr val="lt1"/>
                </a:solidFill>
              </a:rPr>
              <a:t>CREACIÓN DEL SERVIDOR RESTful EN JAVA</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CONSOLA</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ESCRITORIO</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WEB</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MÓVIL</a:t>
            </a:r>
            <a:endParaRPr/>
          </a:p>
          <a:p>
            <a:pPr indent="-306000" lvl="0" marL="306000" marR="0" rtl="0" algn="l">
              <a:lnSpc>
                <a:spcPct val="100000"/>
              </a:lnSpc>
              <a:spcBef>
                <a:spcPts val="906"/>
              </a:spcBef>
              <a:spcAft>
                <a:spcPts val="0"/>
              </a:spcAft>
              <a:buSzPts val="1656"/>
              <a:buChar char="◼"/>
            </a:pPr>
            <a:r>
              <a:rPr lang="es-ES">
                <a:solidFill>
                  <a:schemeClr val="lt1"/>
                </a:solidFill>
              </a:rPr>
              <a:t>CONCLUSIONES</a:t>
            </a:r>
            <a:endParaRPr/>
          </a:p>
          <a:p>
            <a:pPr indent="-306000" lvl="0" marL="306000" marR="0" rtl="0" algn="l">
              <a:lnSpc>
                <a:spcPct val="100000"/>
              </a:lnSpc>
              <a:spcBef>
                <a:spcPts val="906"/>
              </a:spcBef>
              <a:spcAft>
                <a:spcPts val="0"/>
              </a:spcAft>
              <a:buSzPts val="1656"/>
              <a:buChar char="◼"/>
            </a:pPr>
            <a:r>
              <a:rPr lang="es-ES">
                <a:solidFill>
                  <a:schemeClr val="lt1"/>
                </a:solidFill>
              </a:rPr>
              <a:t>RECOMENDACIONES</a:t>
            </a:r>
            <a:endParaRPr/>
          </a:p>
        </p:txBody>
      </p:sp>
      <p:pic>
        <p:nvPicPr>
          <p:cNvPr descr="Resultado de imagen para AGENDA PNG" id="108" name="Google Shape;108;p14"/>
          <p:cNvPicPr preferRelativeResize="0"/>
          <p:nvPr/>
        </p:nvPicPr>
        <p:blipFill rotWithShape="1">
          <a:blip r:embed="rId3">
            <a:alphaModFix/>
          </a:blip>
          <a:srcRect b="0" l="0" r="0" t="0"/>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Gill Sans"/>
              <a:buNone/>
            </a:pPr>
            <a:r>
              <a:rPr b="0" i="0" lang="es-ES" sz="2000" u="none" cap="none" strike="noStrike">
                <a:solidFill>
                  <a:srgbClr val="000000"/>
                </a:solidFill>
                <a:latin typeface="Gill Sans"/>
                <a:ea typeface="Gill Sans"/>
                <a:cs typeface="Gill Sans"/>
                <a:sym typeface="Gill Sans"/>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p:nvPr>
            <p:ph idx="1" type="body"/>
          </p:nvPr>
        </p:nvSpPr>
        <p:spPr>
          <a:xfrm>
            <a:off x="581192" y="2180496"/>
            <a:ext cx="8589300" cy="36783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656"/>
              <a:buChar char="∙"/>
            </a:pPr>
            <a:r>
              <a:rPr b="1" lang="es-ES">
                <a:latin typeface="Cambria"/>
                <a:ea typeface="Cambria"/>
                <a:cs typeface="Cambria"/>
                <a:sym typeface="Cambria"/>
              </a:rPr>
              <a:t>1</a:t>
            </a:r>
            <a:r>
              <a:rPr b="1" lang="es-ES" sz="1800">
                <a:latin typeface="Cambria"/>
                <a:ea typeface="Cambria"/>
                <a:cs typeface="Cambria"/>
                <a:sym typeface="Cambria"/>
              </a:rPr>
              <a:t>.1	OBJETIVO</a:t>
            </a:r>
            <a:endParaRPr b="1"/>
          </a:p>
          <a:p>
            <a:pPr indent="-237744"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a:p>
            <a:pPr indent="-333756" lvl="0" marL="457200" rtl="0" algn="just">
              <a:lnSpc>
                <a:spcPct val="107000"/>
              </a:lnSpc>
              <a:spcBef>
                <a:spcPts val="0"/>
              </a:spcBef>
              <a:spcAft>
                <a:spcPts val="0"/>
              </a:spcAft>
              <a:buSzPts val="1656"/>
              <a:buChar char="∙"/>
            </a:pPr>
            <a:r>
              <a:rPr lang="es-ES">
                <a:latin typeface="Cambria"/>
                <a:ea typeface="Cambria"/>
                <a:cs typeface="Cambria"/>
                <a:sym typeface="Cambria"/>
              </a:rPr>
              <a:t>Desarrollar e implementar un Web Service utilizando RESTFUL mediante JAVA para realizar conversiones de unidades.</a:t>
            </a:r>
            <a:endParaRPr>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OBJETIVO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a:t>
            </a:r>
            <a:r>
              <a:rPr b="1" lang="es-ES" sz="1200">
                <a:solidFill>
                  <a:schemeClr val="lt1"/>
                </a:solidFill>
                <a:latin typeface="Gill Sans"/>
                <a:ea typeface="Gill Sans"/>
                <a:cs typeface="Gill Sans"/>
                <a:sym typeface="Gill Sans"/>
              </a:rPr>
              <a:t>RESTful</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1" i="0" sz="1200" u="none" cap="none" strike="noStrike">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MÓVIL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2180500"/>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1.2.1 	Servidor Payara</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En primer lugar, en NetBeans 29, en la sección de Servicios se crea un servidor, específicamente Payara.</a:t>
            </a:r>
            <a:endParaRPr>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24" name="Google Shape;124;p16"/>
          <p:cNvPicPr preferRelativeResize="0"/>
          <p:nvPr/>
        </p:nvPicPr>
        <p:blipFill>
          <a:blip r:embed="rId3">
            <a:alphaModFix/>
          </a:blip>
          <a:stretch>
            <a:fillRect/>
          </a:stretch>
        </p:blipFill>
        <p:spPr>
          <a:xfrm>
            <a:off x="2594613" y="3539075"/>
            <a:ext cx="4562475" cy="3143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30" name="Google Shape;130;p17"/>
          <p:cNvSpPr txBox="1"/>
          <p:nvPr>
            <p:ph idx="1" type="body"/>
          </p:nvPr>
        </p:nvSpPr>
        <p:spPr>
          <a:xfrm>
            <a:off x="581200" y="1781575"/>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Se selecciona la versión 7.2026.4, se aceptan los términos de condiciones y se selecciona un directorio donde instalar el servidor.</a:t>
            </a:r>
            <a:endParaRPr>
              <a:latin typeface="Cambria"/>
              <a:ea typeface="Cambria"/>
              <a:cs typeface="Cambria"/>
              <a:sym typeface="Cambria"/>
            </a:endParaRPr>
          </a:p>
        </p:txBody>
      </p:sp>
      <p:sp>
        <p:nvSpPr>
          <p:cNvPr id="131" name="Google Shape;131;p1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32" name="Google Shape;132;p17"/>
          <p:cNvPicPr preferRelativeResize="0"/>
          <p:nvPr/>
        </p:nvPicPr>
        <p:blipFill>
          <a:blip r:embed="rId3">
            <a:alphaModFix/>
          </a:blip>
          <a:stretch>
            <a:fillRect/>
          </a:stretch>
        </p:blipFill>
        <p:spPr>
          <a:xfrm>
            <a:off x="2542225" y="3200392"/>
            <a:ext cx="4667250" cy="3257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38" name="Google Shape;138;p18"/>
          <p:cNvSpPr txBox="1"/>
          <p:nvPr>
            <p:ph idx="1" type="body"/>
          </p:nvPr>
        </p:nvSpPr>
        <p:spPr>
          <a:xfrm>
            <a:off x="581192" y="2180497"/>
            <a:ext cx="8589300" cy="1248600"/>
          </a:xfrm>
          <a:prstGeom prst="rect">
            <a:avLst/>
          </a:prstGeom>
          <a:noFill/>
          <a:ln>
            <a:noFill/>
          </a:ln>
        </p:spPr>
        <p:txBody>
          <a:bodyPr anchorCtr="0" anchor="ctr" bIns="45700" lIns="91425" spcFirstLastPara="1" rIns="91425" wrap="square" tIns="45700">
            <a:normAutofit/>
          </a:bodyPr>
          <a:lstStyle/>
          <a:p>
            <a:pPr indent="-342900" lvl="0" marL="457200" rtl="0" algn="just">
              <a:lnSpc>
                <a:spcPct val="107000"/>
              </a:lnSpc>
              <a:spcBef>
                <a:spcPts val="0"/>
              </a:spcBef>
              <a:spcAft>
                <a:spcPts val="0"/>
              </a:spcAft>
              <a:buSzPts val="1800"/>
              <a:buChar char="∙"/>
            </a:pPr>
            <a:r>
              <a:rPr lang="es-ES">
                <a:latin typeface="Cambria"/>
                <a:ea typeface="Cambria"/>
                <a:cs typeface="Cambria"/>
                <a:sym typeface="Cambria"/>
              </a:rPr>
              <a:t>Para terminar la configuración del servidor de payara se configura un nombre de dominio, un host (en nuestro caso, loopback) y se cambian los puertos si se desea.</a:t>
            </a:r>
            <a:endParaRPr>
              <a:latin typeface="Cambria"/>
              <a:ea typeface="Cambria"/>
              <a:cs typeface="Cambria"/>
              <a:sym typeface="Cambria"/>
            </a:endParaRPr>
          </a:p>
        </p:txBody>
      </p:sp>
      <p:sp>
        <p:nvSpPr>
          <p:cNvPr id="139" name="Google Shape;139;p1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0" name="Google Shape;140;p18"/>
          <p:cNvPicPr preferRelativeResize="0"/>
          <p:nvPr/>
        </p:nvPicPr>
        <p:blipFill>
          <a:blip r:embed="rId3">
            <a:alphaModFix/>
          </a:blip>
          <a:stretch>
            <a:fillRect/>
          </a:stretch>
        </p:blipFill>
        <p:spPr>
          <a:xfrm>
            <a:off x="2623250" y="3171650"/>
            <a:ext cx="4505325" cy="3495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46" name="Google Shape;146;p19"/>
          <p:cNvSpPr txBox="1"/>
          <p:nvPr>
            <p:ph idx="1" type="body"/>
          </p:nvPr>
        </p:nvSpPr>
        <p:spPr>
          <a:xfrm>
            <a:off x="581200" y="2180500"/>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1.2.2 	Creación del Proyecto</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Una vez creado el servidor, se crea un proyecto Java, Web Application </a:t>
            </a:r>
            <a:endParaRPr>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47" name="Google Shape;147;p1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8" name="Google Shape;148;p19"/>
          <p:cNvPicPr preferRelativeResize="0"/>
          <p:nvPr/>
        </p:nvPicPr>
        <p:blipFill>
          <a:blip r:embed="rId3">
            <a:alphaModFix/>
          </a:blip>
          <a:stretch>
            <a:fillRect/>
          </a:stretch>
        </p:blipFill>
        <p:spPr>
          <a:xfrm>
            <a:off x="2537463" y="3549050"/>
            <a:ext cx="4676775" cy="3200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54" name="Google Shape;154;p20"/>
          <p:cNvSpPr txBox="1"/>
          <p:nvPr>
            <p:ph idx="1" type="body"/>
          </p:nvPr>
        </p:nvSpPr>
        <p:spPr>
          <a:xfrm>
            <a:off x="581192" y="1948172"/>
            <a:ext cx="8589300" cy="1248600"/>
          </a:xfrm>
          <a:prstGeom prst="rect">
            <a:avLst/>
          </a:prstGeom>
          <a:noFill/>
          <a:ln>
            <a:noFill/>
          </a:ln>
        </p:spPr>
        <p:txBody>
          <a:bodyPr anchorCtr="0" anchor="ctr" bIns="45700" lIns="91425" spcFirstLastPara="1" rIns="91425" wrap="square" tIns="45700">
            <a:noAutofit/>
          </a:bodyPr>
          <a:lstStyle/>
          <a:p>
            <a:pPr indent="-365506" lvl="0" marL="457200" rtl="0" algn="just">
              <a:lnSpc>
                <a:spcPct val="107000"/>
              </a:lnSpc>
              <a:spcBef>
                <a:spcPts val="0"/>
              </a:spcBef>
              <a:spcAft>
                <a:spcPts val="0"/>
              </a:spcAft>
              <a:buSzPts val="2156"/>
              <a:buChar char="∙"/>
            </a:pPr>
            <a:r>
              <a:rPr lang="es-ES">
                <a:latin typeface="Cambria"/>
                <a:ea typeface="Cambria"/>
                <a:cs typeface="Cambria"/>
                <a:sym typeface="Cambria"/>
              </a:rPr>
              <a:t>Se aplica el nombre del proyecto como ‘WS_CON_UNI_JAVA_REST’, y se configura el grupo como ‘ec.edu.monster’</a:t>
            </a:r>
            <a:endParaRPr>
              <a:latin typeface="Cambria"/>
              <a:ea typeface="Cambria"/>
              <a:cs typeface="Cambria"/>
              <a:sym typeface="Cambria"/>
            </a:endParaRPr>
          </a:p>
          <a:p>
            <a:pPr indent="-342900" lvl="0" marL="457200" rtl="0" algn="just">
              <a:lnSpc>
                <a:spcPct val="107000"/>
              </a:lnSpc>
              <a:spcBef>
                <a:spcPts val="0"/>
              </a:spcBef>
              <a:spcAft>
                <a:spcPts val="0"/>
              </a:spcAft>
              <a:buSzPts val="1800"/>
              <a:buFont typeface="Cambria"/>
              <a:buChar char="∙"/>
            </a:pPr>
            <a:r>
              <a:rPr lang="es-ES">
                <a:latin typeface="Cambria"/>
                <a:ea typeface="Cambria"/>
                <a:cs typeface="Cambria"/>
                <a:sym typeface="Cambria"/>
              </a:rPr>
              <a:t>Se selecciona nuestro Servidor Payara creado y Jakarta EE 11 como conjunto de desarrollo de aplicaciones Java.</a:t>
            </a:r>
            <a:endParaRPr>
              <a:latin typeface="Cambria"/>
              <a:ea typeface="Cambria"/>
              <a:cs typeface="Cambria"/>
              <a:sym typeface="Cambria"/>
            </a:endParaRPr>
          </a:p>
        </p:txBody>
      </p:sp>
      <p:sp>
        <p:nvSpPr>
          <p:cNvPr id="155" name="Google Shape;155;p2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6" name="Google Shape;156;p20"/>
          <p:cNvPicPr preferRelativeResize="0"/>
          <p:nvPr/>
        </p:nvPicPr>
        <p:blipFill>
          <a:blip r:embed="rId3">
            <a:alphaModFix/>
          </a:blip>
          <a:stretch>
            <a:fillRect/>
          </a:stretch>
        </p:blipFill>
        <p:spPr>
          <a:xfrm>
            <a:off x="4985342" y="3275900"/>
            <a:ext cx="4342709" cy="2985050"/>
          </a:xfrm>
          <a:prstGeom prst="rect">
            <a:avLst/>
          </a:prstGeom>
          <a:noFill/>
          <a:ln>
            <a:noFill/>
          </a:ln>
        </p:spPr>
      </p:pic>
      <p:pic>
        <p:nvPicPr>
          <p:cNvPr id="157" name="Google Shape;157;p20"/>
          <p:cNvPicPr preferRelativeResize="0"/>
          <p:nvPr/>
        </p:nvPicPr>
        <p:blipFill>
          <a:blip r:embed="rId4">
            <a:alphaModFix/>
          </a:blip>
          <a:stretch>
            <a:fillRect/>
          </a:stretch>
        </p:blipFill>
        <p:spPr>
          <a:xfrm>
            <a:off x="350100" y="3236338"/>
            <a:ext cx="4484766" cy="3064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63" name="Google Shape;163;p21"/>
          <p:cNvSpPr txBox="1"/>
          <p:nvPr>
            <p:ph idx="1" type="body"/>
          </p:nvPr>
        </p:nvSpPr>
        <p:spPr>
          <a:xfrm>
            <a:off x="581200" y="2180500"/>
            <a:ext cx="4557900" cy="3870000"/>
          </a:xfrm>
          <a:prstGeom prst="rect">
            <a:avLst/>
          </a:prstGeom>
          <a:noFill/>
          <a:ln>
            <a:noFill/>
          </a:ln>
        </p:spPr>
        <p:txBody>
          <a:bodyPr anchorCtr="0" anchor="ctr" bIns="45700" lIns="91425" spcFirstLastPara="1" rIns="91425" wrap="square" tIns="45700">
            <a:normAutofit/>
          </a:bodyPr>
          <a:lstStyle/>
          <a:p>
            <a:pPr indent="-355600" lvl="0" marL="342900" marR="0" rtl="0" algn="just">
              <a:lnSpc>
                <a:spcPct val="107000"/>
              </a:lnSpc>
              <a:spcBef>
                <a:spcPts val="0"/>
              </a:spcBef>
              <a:spcAft>
                <a:spcPts val="0"/>
              </a:spcAft>
              <a:buSzPts val="1877"/>
              <a:buChar char="∙"/>
            </a:pPr>
            <a:r>
              <a:rPr b="1" lang="es-ES" sz="1877">
                <a:latin typeface="Cambria"/>
                <a:ea typeface="Cambria"/>
                <a:cs typeface="Cambria"/>
                <a:sym typeface="Cambria"/>
              </a:rPr>
              <a:t>ESTRUCTURA MVC</a:t>
            </a:r>
            <a:endParaRPr b="1" sz="18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b="1" sz="1877">
              <a:latin typeface="Cambria"/>
              <a:ea typeface="Cambria"/>
              <a:cs typeface="Cambria"/>
              <a:sym typeface="Cambria"/>
            </a:endParaRPr>
          </a:p>
          <a:p>
            <a:pPr indent="-347790" lvl="0" marL="457200" rtl="0" algn="just">
              <a:lnSpc>
                <a:spcPct val="107000"/>
              </a:lnSpc>
              <a:spcBef>
                <a:spcPts val="0"/>
              </a:spcBef>
              <a:spcAft>
                <a:spcPts val="0"/>
              </a:spcAft>
              <a:buSzPts val="1877"/>
              <a:buFont typeface="Cambria"/>
              <a:buChar char="∙"/>
            </a:pPr>
            <a:r>
              <a:rPr lang="es-ES" sz="1877">
                <a:latin typeface="Cambria"/>
                <a:ea typeface="Cambria"/>
                <a:cs typeface="Cambria"/>
                <a:sym typeface="Cambria"/>
              </a:rPr>
              <a:t>Aplicando un patrón arquitectónico MVC junto a otras capas se configuran los paquetes principales.</a:t>
            </a:r>
            <a:endParaRPr b="1" sz="18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64" name="Google Shape;164;p2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5" name="Google Shape;165;p21"/>
          <p:cNvPicPr preferRelativeResize="0"/>
          <p:nvPr/>
        </p:nvPicPr>
        <p:blipFill>
          <a:blip r:embed="rId3">
            <a:alphaModFix/>
          </a:blip>
          <a:stretch>
            <a:fillRect/>
          </a:stretch>
        </p:blipFill>
        <p:spPr>
          <a:xfrm>
            <a:off x="5204600" y="2180500"/>
            <a:ext cx="3771900" cy="4076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71" name="Google Shape;171;p22"/>
          <p:cNvSpPr txBox="1"/>
          <p:nvPr>
            <p:ph idx="1" type="body"/>
          </p:nvPr>
        </p:nvSpPr>
        <p:spPr>
          <a:xfrm>
            <a:off x="581200" y="2180500"/>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1.2.3 	Creación del WebService</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Dentro del paquete controladores.ws se crea un webservice.</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Cambria"/>
              <a:buChar char="∙"/>
            </a:pPr>
            <a:r>
              <a:rPr lang="es-ES">
                <a:latin typeface="Cambria"/>
                <a:ea typeface="Cambria"/>
                <a:cs typeface="Cambria"/>
                <a:sym typeface="Cambria"/>
              </a:rPr>
              <a:t>Se configura el web service con su nombre WSConversorUnidades.</a:t>
            </a:r>
            <a:endParaRPr>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72" name="Google Shape;172;p2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3" name="Google Shape;173;p22"/>
          <p:cNvPicPr preferRelativeResize="0"/>
          <p:nvPr/>
        </p:nvPicPr>
        <p:blipFill>
          <a:blip r:embed="rId3">
            <a:alphaModFix/>
          </a:blip>
          <a:stretch>
            <a:fillRect/>
          </a:stretch>
        </p:blipFill>
        <p:spPr>
          <a:xfrm>
            <a:off x="4798875" y="3593800"/>
            <a:ext cx="4497956" cy="3036125"/>
          </a:xfrm>
          <a:prstGeom prst="rect">
            <a:avLst/>
          </a:prstGeom>
          <a:noFill/>
          <a:ln>
            <a:noFill/>
          </a:ln>
        </p:spPr>
      </p:pic>
      <p:pic>
        <p:nvPicPr>
          <p:cNvPr id="174" name="Google Shape;174;p22"/>
          <p:cNvPicPr preferRelativeResize="0"/>
          <p:nvPr/>
        </p:nvPicPr>
        <p:blipFill>
          <a:blip r:embed="rId4">
            <a:alphaModFix/>
          </a:blip>
          <a:stretch>
            <a:fillRect/>
          </a:stretch>
        </p:blipFill>
        <p:spPr>
          <a:xfrm>
            <a:off x="581200" y="3446988"/>
            <a:ext cx="3810000" cy="31829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80" name="Google Shape;180;p23"/>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lnSpcReduction="20000"/>
          </a:bodyPr>
          <a:lstStyle/>
          <a:p>
            <a:pPr indent="-335090" lvl="0" marL="457200" rtl="0" algn="l">
              <a:lnSpc>
                <a:spcPct val="107000"/>
              </a:lnSpc>
              <a:spcBef>
                <a:spcPts val="0"/>
              </a:spcBef>
              <a:spcAft>
                <a:spcPts val="0"/>
              </a:spcAft>
              <a:buSzPts val="1677"/>
              <a:buFont typeface="Cambria"/>
              <a:buChar char="∙"/>
            </a:pPr>
            <a:r>
              <a:rPr b="1" lang="es-ES" sz="1677">
                <a:latin typeface="Cambria"/>
                <a:ea typeface="Cambria"/>
                <a:cs typeface="Cambria"/>
                <a:sym typeface="Cambria"/>
              </a:rPr>
              <a:t>Se codifica el webservice bajo los siguientes lineamientos</a:t>
            </a:r>
            <a:endParaRPr b="1" sz="1677">
              <a:latin typeface="Cambria"/>
              <a:ea typeface="Cambria"/>
              <a:cs typeface="Cambria"/>
              <a:sym typeface="Cambria"/>
            </a:endParaRPr>
          </a:p>
          <a:p>
            <a:pPr indent="0" lvl="0" marL="457200" rtl="0" algn="l">
              <a:lnSpc>
                <a:spcPct val="107000"/>
              </a:lnSpc>
              <a:spcBef>
                <a:spcPts val="0"/>
              </a:spcBef>
              <a:spcAft>
                <a:spcPts val="0"/>
              </a:spcAft>
              <a:buNone/>
            </a:pPr>
            <a:r>
              <a:t/>
            </a:r>
            <a:endParaRPr b="1" sz="1677">
              <a:latin typeface="Cambria"/>
              <a:ea typeface="Cambria"/>
              <a:cs typeface="Cambria"/>
              <a:sym typeface="Cambria"/>
            </a:endParaRPr>
          </a:p>
          <a:p>
            <a:pPr indent="-335090" lvl="0" marL="457200" rtl="0" algn="l">
              <a:lnSpc>
                <a:spcPct val="107000"/>
              </a:lnSpc>
              <a:spcBef>
                <a:spcPts val="0"/>
              </a:spcBef>
              <a:spcAft>
                <a:spcPts val="0"/>
              </a:spcAft>
              <a:buSzPts val="1677"/>
              <a:buFont typeface="Cambria"/>
              <a:buChar char="∙"/>
            </a:pPr>
            <a:r>
              <a:rPr lang="es-ES" sz="1677">
                <a:latin typeface="Cambria"/>
                <a:ea typeface="Cambria"/>
                <a:cs typeface="Cambria"/>
                <a:sym typeface="Cambria"/>
              </a:rPr>
              <a:t>1. Se dejan preparadas las siguientes importaciones que se encargarán de gestionar toda la lógica.</a:t>
            </a:r>
            <a:br>
              <a:rPr b="1" lang="es-ES" sz="1677">
                <a:latin typeface="Cambria"/>
                <a:ea typeface="Cambria"/>
                <a:cs typeface="Cambria"/>
                <a:sym typeface="Cambria"/>
              </a:rPr>
            </a:b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81" name="Google Shape;181;p2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82" name="Google Shape;182;p23"/>
          <p:cNvGraphicFramePr/>
          <p:nvPr/>
        </p:nvGraphicFramePr>
        <p:xfrm>
          <a:off x="3395925" y="2420925"/>
          <a:ext cx="3000000" cy="3000000"/>
        </p:xfrm>
        <a:graphic>
          <a:graphicData uri="http://schemas.openxmlformats.org/drawingml/2006/table">
            <a:tbl>
              <a:tblPr>
                <a:noFill/>
                <a:tableStyleId>{24BBDE1E-296D-40B9-B01D-3F357474E97A}</a:tableStyleId>
              </a:tblPr>
              <a:tblGrid>
                <a:gridCol w="5400050"/>
              </a:tblGrid>
              <a:tr h="3375075">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package ec.edu.monster.controller.ws;</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ec.edu.monster.controller.ws.dto.ConversionRequest;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ec.edu.monster.controller.ws.dto.ConversionResponse;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ec.edu.monster.controller.ws.dto.MensajeResponse;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ec.edu.monster.model.servicios.ServicioConversor;</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ec.edu.monster.model.utilidades.ConversorLongitud;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ec.edu.monster.model.utilidades.ConversorMasa;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ec.edu.monster.model.utilidades.ConversorTemperatura;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ec.edu.monster.model.utilidades.enums.UnidadLongitud;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ec.edu.monster.model.utilidades.enums.UnidadMasa;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ec.edu.monster.model.utilidades.enums.UnidadTemperatura;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ec.edu.monster.model.utilidades.mapeadores.UnidadMapper;</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jakarta.ws.rs.Consumes;</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jakarta.ws.rs.POST;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jakarta.ws.rs.Path;</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jakarta.ws.rs.Produces;</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jakarta.ws.rs.core.MediaType;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jakarta.ws.rs.core.Response;</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88" name="Google Shape;188;p24"/>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a:bodyPr>
          <a:lstStyle/>
          <a:p>
            <a:pPr indent="-335090" lvl="0" marL="457200" rtl="0" algn="l">
              <a:lnSpc>
                <a:spcPct val="107000"/>
              </a:lnSpc>
              <a:spcBef>
                <a:spcPts val="0"/>
              </a:spcBef>
              <a:spcAft>
                <a:spcPts val="0"/>
              </a:spcAft>
              <a:buSzPts val="1677"/>
              <a:buFont typeface="Cambria"/>
              <a:buChar char="∙"/>
            </a:pPr>
            <a:r>
              <a:rPr lang="es-ES" sz="1677">
                <a:latin typeface="Cambria"/>
                <a:ea typeface="Cambria"/>
                <a:cs typeface="Cambria"/>
                <a:sym typeface="Cambria"/>
              </a:rPr>
              <a:t>2. Se configura el endpoint de nuestro servicio web.</a:t>
            </a:r>
            <a:endParaRPr sz="1677">
              <a:latin typeface="Cambria"/>
              <a:ea typeface="Cambria"/>
              <a:cs typeface="Cambria"/>
              <a:sym typeface="Cambria"/>
            </a:endParaRPr>
          </a:p>
          <a:p>
            <a:pPr indent="0" lvl="0" marL="457200" rtl="0" algn="l">
              <a:lnSpc>
                <a:spcPct val="107000"/>
              </a:lnSpc>
              <a:spcBef>
                <a:spcPts val="0"/>
              </a:spcBef>
              <a:spcAft>
                <a:spcPts val="0"/>
              </a:spcAft>
              <a:buNone/>
            </a:pPr>
            <a:r>
              <a:t/>
            </a:r>
            <a:endParaRPr sz="1677">
              <a:latin typeface="Cambria"/>
              <a:ea typeface="Cambria"/>
              <a:cs typeface="Cambria"/>
              <a:sym typeface="Cambria"/>
            </a:endParaRPr>
          </a:p>
          <a:p>
            <a:pPr indent="-335090" lvl="0" marL="457200" rtl="0" algn="l">
              <a:lnSpc>
                <a:spcPct val="107000"/>
              </a:lnSpc>
              <a:spcBef>
                <a:spcPts val="0"/>
              </a:spcBef>
              <a:spcAft>
                <a:spcPts val="0"/>
              </a:spcAft>
              <a:buSzPts val="1677"/>
              <a:buFont typeface="Cambria"/>
              <a:buChar char="∙"/>
            </a:pPr>
            <a:r>
              <a:rPr lang="es-ES" sz="1677">
                <a:latin typeface="Cambria"/>
                <a:ea typeface="Cambria"/>
                <a:cs typeface="Cambria"/>
                <a:sym typeface="Cambria"/>
              </a:rPr>
              <a:t>3. Se crean los atributos respectivos.</a:t>
            </a:r>
            <a:br>
              <a:rPr b="1" lang="es-ES" sz="1677">
                <a:latin typeface="Cambria"/>
                <a:ea typeface="Cambria"/>
                <a:cs typeface="Cambria"/>
                <a:sym typeface="Cambria"/>
              </a:rPr>
            </a:b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89" name="Google Shape;189;p2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90" name="Google Shape;190;p24"/>
          <p:cNvGraphicFramePr/>
          <p:nvPr/>
        </p:nvGraphicFramePr>
        <p:xfrm>
          <a:off x="3701450" y="2180500"/>
          <a:ext cx="3000000" cy="3000000"/>
        </p:xfrm>
        <a:graphic>
          <a:graphicData uri="http://schemas.openxmlformats.org/drawingml/2006/table">
            <a:tbl>
              <a:tblPr>
                <a:noFill/>
                <a:tableStyleId>{24BBDE1E-296D-40B9-B01D-3F357474E97A}</a:tableStyleId>
              </a:tblPr>
              <a:tblGrid>
                <a:gridCol w="5400050"/>
              </a:tblGrid>
              <a:tr h="12700">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@Path("/conversiones")</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@Consumes(MediaType.APPLICATION_JSON)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@Produces(MediaType.APPLICATION_JSON)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public class WSConversorUnidades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191" name="Google Shape;191;p24"/>
          <p:cNvGraphicFramePr/>
          <p:nvPr/>
        </p:nvGraphicFramePr>
        <p:xfrm>
          <a:off x="3701450" y="3375275"/>
          <a:ext cx="3000000" cy="3000000"/>
        </p:xfrm>
        <a:graphic>
          <a:graphicData uri="http://schemas.openxmlformats.org/drawingml/2006/table">
            <a:tbl>
              <a:tblPr>
                <a:noFill/>
                <a:tableStyleId>{24BBDE1E-296D-40B9-B01D-3F357474E97A}</a:tableStyleId>
              </a:tblPr>
              <a:tblGrid>
                <a:gridCol w="5400050"/>
              </a:tblGrid>
              <a:tr h="12700">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final ServicioConversor&lt;UnidadLongitud&gt; servicioLongitud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new ServicioConversor&lt;&gt;(new ConversorLongitud());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final ServicioConversor&lt;UnidadMasa&gt; servicioMasa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new ServicioConversor&lt;&gt;(new ConversorMasa());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final ServicioConversor&lt;UnidadTemperatura&gt; servicioTemperatura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new ServicioConversor&lt;&gt;(new ConversorTemperatura());</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97" name="Google Shape;197;p25"/>
          <p:cNvSpPr txBox="1"/>
          <p:nvPr>
            <p:ph idx="1" type="body"/>
          </p:nvPr>
        </p:nvSpPr>
        <p:spPr>
          <a:xfrm>
            <a:off x="60250" y="1928900"/>
            <a:ext cx="2099400" cy="3965700"/>
          </a:xfrm>
          <a:prstGeom prst="rect">
            <a:avLst/>
          </a:prstGeom>
          <a:noFill/>
          <a:ln>
            <a:noFill/>
          </a:ln>
        </p:spPr>
        <p:txBody>
          <a:bodyPr anchorCtr="0" anchor="ctr" bIns="45700" lIns="91425" spcFirstLastPara="1" rIns="91425" wrap="square" tIns="45700">
            <a:normAutofit/>
          </a:bodyPr>
          <a:lstStyle/>
          <a:p>
            <a:pPr indent="-335090" lvl="0" marL="457200" rtl="0" algn="l">
              <a:lnSpc>
                <a:spcPct val="107000"/>
              </a:lnSpc>
              <a:spcBef>
                <a:spcPts val="0"/>
              </a:spcBef>
              <a:spcAft>
                <a:spcPts val="0"/>
              </a:spcAft>
              <a:buSzPts val="1677"/>
              <a:buFont typeface="Cambria"/>
              <a:buChar char="∙"/>
            </a:pPr>
            <a:r>
              <a:rPr lang="es-ES" sz="1677">
                <a:latin typeface="Cambria"/>
                <a:ea typeface="Cambria"/>
                <a:cs typeface="Cambria"/>
                <a:sym typeface="Cambria"/>
              </a:rPr>
              <a:t>4. Se crean los métodos respectivos.</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98" name="Google Shape;198;p2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99" name="Google Shape;199;p25"/>
          <p:cNvGraphicFramePr/>
          <p:nvPr/>
        </p:nvGraphicFramePr>
        <p:xfrm>
          <a:off x="3034225" y="1928900"/>
          <a:ext cx="3000000" cy="3000000"/>
        </p:xfrm>
        <a:graphic>
          <a:graphicData uri="http://schemas.openxmlformats.org/drawingml/2006/table">
            <a:tbl>
              <a:tblPr>
                <a:noFill/>
                <a:tableStyleId>{24BBDE1E-296D-40B9-B01D-3F357474E97A}</a:tableStyleId>
              </a:tblPr>
              <a:tblGrid>
                <a:gridCol w="6201700"/>
              </a:tblGrid>
              <a:tr h="4919925">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@POST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@Path("/longitud")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Response convertirLongitud(ConversionRequest request)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try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validarDatosConversion(request);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UnidadLongitud origen = UnidadMapper.toLongitud(request.getUnidadOrigen());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UnidadLongitud destino = UnidadMapper.toLongitud(request.getUnidadDestino());</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double resultado = servicioLongitud.convertir(request.getValor(), origen, destino);</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Response.ok(crearRespuesta(request, resultado)).build();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catch (RuntimeException e)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construirRespuestaError(Response.Status.BAD_REQUEST, e.getMessage());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@POST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@Path("/masa")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Response convertirMasa(ConversionRequest request)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try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validarDatosConversion(request);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UnidadMasa origen = UnidadMapper.toMasa(request.getUnidadOrigen());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UnidadMasa destino = UnidadMapper.toMasa(request.getUnidadDestino());</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double resultado = servicioMasa.convertir(request.getValor(), origen, destino);</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Response.ok(crearRespuesta(request, resultado)).build();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catch (RuntimeException e)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construirRespuestaError(Response.Status.BAD_REQUEST, e.getMessage());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05" name="Google Shape;205;p26"/>
          <p:cNvSpPr txBox="1"/>
          <p:nvPr>
            <p:ph idx="1" type="body"/>
          </p:nvPr>
        </p:nvSpPr>
        <p:spPr>
          <a:xfrm>
            <a:off x="60250" y="1928900"/>
            <a:ext cx="2099400" cy="3965700"/>
          </a:xfrm>
          <a:prstGeom prst="rect">
            <a:avLst/>
          </a:prstGeom>
          <a:noFill/>
          <a:ln>
            <a:noFill/>
          </a:ln>
        </p:spPr>
        <p:txBody>
          <a:bodyPr anchorCtr="0" anchor="ctr" bIns="45700" lIns="91425" spcFirstLastPara="1" rIns="91425" wrap="square" tIns="45700">
            <a:normAutofit/>
          </a:bodyPr>
          <a:lstStyle/>
          <a:p>
            <a:pPr indent="-335090" lvl="0" marL="457200" rtl="0" algn="l">
              <a:lnSpc>
                <a:spcPct val="107000"/>
              </a:lnSpc>
              <a:spcBef>
                <a:spcPts val="0"/>
              </a:spcBef>
              <a:spcAft>
                <a:spcPts val="0"/>
              </a:spcAft>
              <a:buSzPts val="1677"/>
              <a:buFont typeface="Cambria"/>
              <a:buChar char="∙"/>
            </a:pPr>
            <a:r>
              <a:rPr lang="es-ES" sz="1677">
                <a:latin typeface="Cambria"/>
                <a:ea typeface="Cambria"/>
                <a:cs typeface="Cambria"/>
                <a:sym typeface="Cambria"/>
              </a:rPr>
              <a:t>4. Se crean los métodos respectivos.</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206" name="Google Shape;206;p2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07" name="Google Shape;207;p26"/>
          <p:cNvGraphicFramePr/>
          <p:nvPr/>
        </p:nvGraphicFramePr>
        <p:xfrm>
          <a:off x="2626925" y="2563550"/>
          <a:ext cx="3000000" cy="3000000"/>
        </p:xfrm>
        <a:graphic>
          <a:graphicData uri="http://schemas.openxmlformats.org/drawingml/2006/table">
            <a:tbl>
              <a:tblPr>
                <a:noFill/>
                <a:tableStyleId>{24BBDE1E-296D-40B9-B01D-3F357474E97A}</a:tableStyleId>
              </a:tblPr>
              <a:tblGrid>
                <a:gridCol w="6201700"/>
              </a:tblGrid>
              <a:tr h="2864425">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@POST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@Path("/temperatura")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Response convertirTemperatura(ConversionRequest request)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try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validarDatosConversion(request);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UnidadTemperatura origen = UnidadMapper.toTemperatura(request.getUnidadOrigen());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UnidadTemperatura destino = UnidadMapper.toTemperatura(request.getUnidadDestino());</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double resultado = servicioTemperatura.convertir(request.getValor(), origen, destino);</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Response.ok(crearRespuesta(request, resultado)).build();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catch (RuntimeException e)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construirRespuestaError(Response.Status.BAD_REQUEST, e.getMessage());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13" name="Google Shape;213;p27"/>
          <p:cNvSpPr txBox="1"/>
          <p:nvPr>
            <p:ph idx="1" type="body"/>
          </p:nvPr>
        </p:nvSpPr>
        <p:spPr>
          <a:xfrm>
            <a:off x="60250" y="1928900"/>
            <a:ext cx="2099400" cy="3965700"/>
          </a:xfrm>
          <a:prstGeom prst="rect">
            <a:avLst/>
          </a:prstGeom>
          <a:noFill/>
          <a:ln>
            <a:noFill/>
          </a:ln>
        </p:spPr>
        <p:txBody>
          <a:bodyPr anchorCtr="0" anchor="ctr" bIns="45700" lIns="91425" spcFirstLastPara="1" rIns="91425" wrap="square" tIns="45700">
            <a:normAutofit/>
          </a:bodyPr>
          <a:lstStyle/>
          <a:p>
            <a:pPr indent="-335090" lvl="0" marL="457200" rtl="0" algn="l">
              <a:lnSpc>
                <a:spcPct val="107000"/>
              </a:lnSpc>
              <a:spcBef>
                <a:spcPts val="0"/>
              </a:spcBef>
              <a:spcAft>
                <a:spcPts val="0"/>
              </a:spcAft>
              <a:buSzPts val="1677"/>
              <a:buFont typeface="Cambria"/>
              <a:buChar char="∙"/>
            </a:pPr>
            <a:r>
              <a:rPr lang="es-ES" sz="1677">
                <a:latin typeface="Cambria"/>
                <a:ea typeface="Cambria"/>
                <a:cs typeface="Cambria"/>
                <a:sym typeface="Cambria"/>
              </a:rPr>
              <a:t>5. Sub-Módulo de Seguridad Independiente</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214" name="Google Shape;214;p2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15" name="Google Shape;215;p27"/>
          <p:cNvGraphicFramePr/>
          <p:nvPr/>
        </p:nvGraphicFramePr>
        <p:xfrm>
          <a:off x="2237325" y="2052050"/>
          <a:ext cx="3000000" cy="3000000"/>
        </p:xfrm>
        <a:graphic>
          <a:graphicData uri="http://schemas.openxmlformats.org/drawingml/2006/table">
            <a:tbl>
              <a:tblPr>
                <a:noFill/>
                <a:tableStyleId>{24BBDE1E-296D-40B9-B01D-3F357474E97A}</a:tableStyleId>
              </a:tblPr>
              <a:tblGrid>
                <a:gridCol w="7205750"/>
              </a:tblGrid>
              <a:tr h="28644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a:t>
                      </a:r>
                      <a:r>
                        <a:rPr lang="es-ES" sz="1100">
                          <a:solidFill>
                            <a:srgbClr val="4F81BD"/>
                          </a:solidFill>
                          <a:latin typeface="Calibri"/>
                          <a:ea typeface="Calibri"/>
                          <a:cs typeface="Calibri"/>
                          <a:sym typeface="Calibri"/>
                        </a:rPr>
                        <a:t> @Path("/seguridad")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@Consumes(MediaType.APPLICATION_JSON)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@Produces(MediaType.APPLICATION_JSON)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public class WSSeguridad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@POST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@Path("/login")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Response login(LoginRequest request)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if (request == null || request.getUsuario() == null || request.getContrasenia() == null)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respuestaError(Response.Status.BAD_REQUEST, "Usuario y contrasenia obligatorios");</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if (AdministradorCredenciales.validarCredenciales(request.getUsuario(), request.getContrasenia()))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String token = AdministradorTokens.generarToken();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Response.ok(new LoginResponse(token)).build();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respuestaError(Response.Status.UNAUTHORIZED, "Credenciales incorrectas");</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@POST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@Path("/cambiar-contrasena")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Response cambiarContrasena(CambiarContrasenaRequest request)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try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AdministradorCredenciales.cambiarContrasenia(request.getContraseniaActual(), request.getNuevaContrasenia());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Response.ok(new MensajeResponse("Contrasenia actualizada correctamente")).build();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catch (RuntimeException e)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respuestaError(Response.Status.BAD_REQUEST, e.getMessage());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21" name="Google Shape;221;p28"/>
          <p:cNvSpPr txBox="1"/>
          <p:nvPr>
            <p:ph idx="1" type="body"/>
          </p:nvPr>
        </p:nvSpPr>
        <p:spPr>
          <a:xfrm>
            <a:off x="581200" y="2018775"/>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1.2.4 	Autenticación</a:t>
            </a:r>
            <a:endParaRPr>
              <a:latin typeface="Cambria"/>
              <a:ea typeface="Cambria"/>
              <a:cs typeface="Cambria"/>
              <a:sym typeface="Cambria"/>
            </a:endParaRPr>
          </a:p>
          <a:p>
            <a:pPr indent="-323850" lvl="0" marL="342900" marR="0" rtl="0" algn="just">
              <a:lnSpc>
                <a:spcPct val="107000"/>
              </a:lnSpc>
              <a:spcBef>
                <a:spcPts val="0"/>
              </a:spcBef>
              <a:spcAft>
                <a:spcPts val="0"/>
              </a:spcAft>
              <a:buSzPts val="1356"/>
              <a:buFont typeface="Cambria"/>
              <a:buChar char="∙"/>
            </a:pPr>
            <a:r>
              <a:rPr lang="es-ES" sz="1500">
                <a:latin typeface="Cambria"/>
                <a:ea typeface="Cambria"/>
                <a:cs typeface="Cambria"/>
                <a:sym typeface="Cambria"/>
              </a:rPr>
              <a:t>Una clase transversal muy importante de mencionar es ManejadorAutenticacion.java. En este proyecto RESTful se utiliza un Filtro de Peticiones (middleware) altamente optimizado gracias a la interfaz ContainerRequestFilter de JAX-RS.</a:t>
            </a:r>
            <a:endParaRPr sz="1500">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222" name="Google Shape;222;p2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3" name="Google Shape;223;p28"/>
          <p:cNvPicPr preferRelativeResize="0"/>
          <p:nvPr/>
        </p:nvPicPr>
        <p:blipFill>
          <a:blip r:embed="rId3">
            <a:alphaModFix/>
          </a:blip>
          <a:stretch>
            <a:fillRect/>
          </a:stretch>
        </p:blipFill>
        <p:spPr>
          <a:xfrm>
            <a:off x="2608900" y="3388650"/>
            <a:ext cx="4533900" cy="3076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29" name="Google Shape;229;p29"/>
          <p:cNvSpPr txBox="1"/>
          <p:nvPr>
            <p:ph idx="1" type="body"/>
          </p:nvPr>
        </p:nvSpPr>
        <p:spPr>
          <a:xfrm>
            <a:off x="581192" y="1876272"/>
            <a:ext cx="8589300" cy="1248600"/>
          </a:xfrm>
          <a:prstGeom prst="rect">
            <a:avLst/>
          </a:prstGeom>
          <a:noFill/>
          <a:ln>
            <a:noFill/>
          </a:ln>
        </p:spPr>
        <p:txBody>
          <a:bodyPr anchorCtr="0" anchor="ctr" bIns="45700" lIns="91425" spcFirstLastPara="1" rIns="91425" wrap="square" tIns="45700">
            <a:normAutofit/>
          </a:bodyPr>
          <a:lstStyle/>
          <a:p>
            <a:pPr indent="-304800" lvl="0" marL="457200" rtl="0" algn="just">
              <a:lnSpc>
                <a:spcPct val="107000"/>
              </a:lnSpc>
              <a:spcBef>
                <a:spcPts val="0"/>
              </a:spcBef>
              <a:spcAft>
                <a:spcPts val="0"/>
              </a:spcAft>
              <a:buSzPts val="1200"/>
              <a:buFont typeface="Cambria"/>
              <a:buChar char="∙"/>
            </a:pPr>
            <a:r>
              <a:rPr lang="es-ES" sz="1200">
                <a:latin typeface="Cambria"/>
                <a:ea typeface="Cambria"/>
                <a:cs typeface="Cambria"/>
                <a:sym typeface="Cambria"/>
              </a:rPr>
              <a:t>Esta clase intercepta automáticamente cada solicitud al servidor antes de que llegue a los endpoints de conversión. Su lógica evalúa si la petición requiere autenticación. Protege todas las rutas exceptuando las de /login o las solicitudes pre-vuelo (OPTIONS). El filtro exige un encabezado HTTP de tipo Authorization que contenga un token Bearer válido y no expirado. En caso de fallar, responde un estado 401 UNAUTHORIZED con un mensaje JSON codificado nativamente.</a:t>
            </a:r>
            <a:endParaRPr sz="1300">
              <a:latin typeface="Cambria"/>
              <a:ea typeface="Cambria"/>
              <a:cs typeface="Cambria"/>
              <a:sym typeface="Cambria"/>
            </a:endParaRPr>
          </a:p>
        </p:txBody>
      </p:sp>
      <p:sp>
        <p:nvSpPr>
          <p:cNvPr id="230" name="Google Shape;230;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31" name="Google Shape;231;p29"/>
          <p:cNvGraphicFramePr/>
          <p:nvPr/>
        </p:nvGraphicFramePr>
        <p:xfrm>
          <a:off x="3608175" y="3560600"/>
          <a:ext cx="3000000" cy="3000000"/>
        </p:xfrm>
        <a:graphic>
          <a:graphicData uri="http://schemas.openxmlformats.org/drawingml/2006/table">
            <a:tbl>
              <a:tblPr>
                <a:noFill/>
                <a:tableStyleId>{24BBDE1E-296D-40B9-B01D-3F357474E97A}</a:tableStyleId>
              </a:tblPr>
              <a:tblGrid>
                <a:gridCol w="5500775"/>
              </a:tblGrid>
              <a:tr h="22153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package ec.edu.monster.controller.manejadoresws;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ec.edu.monster.seguridad.AdministradorTokens;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jakarta.annotation.Priority;</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jakarta.ws.rs.Priorities;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jakarta.ws.rs.container.ContainerRequestContext;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jakarta.ws.rs.container.ContainerRequestFilter;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jakarta.ws.rs.core.HttpHeaders;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jakarta.ws.rs.core.MediaType;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jakarta.ws.rs.core.Response;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jakarta.ws.rs.ext.Provider;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@Provider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@Priority(Priorities.AUTHENTICATION)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public class ManejadorAutenticacion implements ContainerRequestFilter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txBody>
                  <a:tcPr marT="63500" marB="63500" marR="63500" marL="63500"/>
                </a:tc>
              </a:tr>
            </a:tbl>
          </a:graphicData>
        </a:graphic>
      </p:graphicFrame>
      <p:sp>
        <p:nvSpPr>
          <p:cNvPr id="232" name="Google Shape;232;p29"/>
          <p:cNvSpPr txBox="1"/>
          <p:nvPr>
            <p:ph idx="1" type="body"/>
          </p:nvPr>
        </p:nvSpPr>
        <p:spPr>
          <a:xfrm>
            <a:off x="240225" y="3372900"/>
            <a:ext cx="2980500" cy="3965700"/>
          </a:xfrm>
          <a:prstGeom prst="rect">
            <a:avLst/>
          </a:prstGeom>
          <a:noFill/>
          <a:ln>
            <a:noFill/>
          </a:ln>
        </p:spPr>
        <p:txBody>
          <a:bodyPr anchorCtr="0" anchor="ctr" bIns="45700" lIns="91425" spcFirstLastPara="1" rIns="91425" wrap="square" tIns="45700">
            <a:normAutofit/>
          </a:bodyPr>
          <a:lstStyle/>
          <a:p>
            <a:pPr indent="-335090" lvl="0" marL="457200" rtl="0" algn="l">
              <a:lnSpc>
                <a:spcPct val="107000"/>
              </a:lnSpc>
              <a:spcBef>
                <a:spcPts val="0"/>
              </a:spcBef>
              <a:spcAft>
                <a:spcPts val="0"/>
              </a:spcAft>
              <a:buSzPts val="1677"/>
              <a:buFont typeface="Cambria"/>
              <a:buChar char="∙"/>
            </a:pPr>
            <a:r>
              <a:rPr lang="es-ES" sz="1677">
                <a:latin typeface="Cambria"/>
                <a:ea typeface="Cambria"/>
                <a:cs typeface="Cambria"/>
                <a:sym typeface="Cambria"/>
              </a:rPr>
              <a:t>ManejadorAutenticacion</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8" name="Google Shape;238;p3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39" name="Google Shape;239;p30"/>
          <p:cNvGraphicFramePr/>
          <p:nvPr/>
        </p:nvGraphicFramePr>
        <p:xfrm>
          <a:off x="2964625" y="1876275"/>
          <a:ext cx="3000000" cy="3000000"/>
        </p:xfrm>
        <a:graphic>
          <a:graphicData uri="http://schemas.openxmlformats.org/drawingml/2006/table">
            <a:tbl>
              <a:tblPr>
                <a:noFill/>
                <a:tableStyleId>{24BBDE1E-296D-40B9-B01D-3F357474E97A}</a:tableStyleId>
              </a:tblPr>
              <a:tblGrid>
                <a:gridCol w="6062675"/>
              </a:tblGrid>
              <a:tr h="4701300">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@Override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void filter(ContainerRequestContext contexto)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String ruta = contexto.getUriInfo().getPath();</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if (ruta == null)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ruta =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if ("OPTIONS".equalsIgnoreCase(contexto.getMethod()) || ruta.endsWith("/login"))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String cabeceraAutorizacion = contexto.getHeaderString(HttpHeaders.AUTHORIZATION);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if (cabeceraAutorizacion == null || cabeceraAutorizacion.isBlank())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rechazar(contexto, "Acceso denegado: Se requiere el encabezado Authorization con el token.");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String token = extraerToken(cabeceraAutorizacion);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if (token.isBlank() || !AdministradorTokens.validarToken(token))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rechazar(contexto, "Acceso denegado: Token invalido o expirado.");</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static String extraerToken(String cabeceraAutorizacion)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String prefijo = "Bearer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if (cabeceraAutorizacion.regionMatches(true, 0, prefijo, 0, prefijo.length()))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cabeceraAutorizacion.substring(prefijo.length()).trim();</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cabeceraAutorizacion.trim();</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240" name="Google Shape;240;p30"/>
          <p:cNvSpPr txBox="1"/>
          <p:nvPr>
            <p:ph idx="1" type="body"/>
          </p:nvPr>
        </p:nvSpPr>
        <p:spPr>
          <a:xfrm>
            <a:off x="107625" y="2738250"/>
            <a:ext cx="2980500" cy="3965700"/>
          </a:xfrm>
          <a:prstGeom prst="rect">
            <a:avLst/>
          </a:prstGeom>
          <a:noFill/>
          <a:ln>
            <a:noFill/>
          </a:ln>
        </p:spPr>
        <p:txBody>
          <a:bodyPr anchorCtr="0" anchor="ctr" bIns="45700" lIns="91425" spcFirstLastPara="1" rIns="91425" wrap="square" tIns="45700">
            <a:normAutofit/>
          </a:bodyPr>
          <a:lstStyle/>
          <a:p>
            <a:pPr indent="-335090" lvl="0" marL="457200" rtl="0" algn="l">
              <a:lnSpc>
                <a:spcPct val="107000"/>
              </a:lnSpc>
              <a:spcBef>
                <a:spcPts val="0"/>
              </a:spcBef>
              <a:spcAft>
                <a:spcPts val="0"/>
              </a:spcAft>
              <a:buSzPts val="1677"/>
              <a:buFont typeface="Cambria"/>
              <a:buChar char="∙"/>
            </a:pPr>
            <a:r>
              <a:rPr lang="es-ES" sz="1677">
                <a:latin typeface="Cambria"/>
                <a:ea typeface="Cambria"/>
                <a:cs typeface="Cambria"/>
                <a:sym typeface="Cambria"/>
              </a:rPr>
              <a:t>ManejadorAutenticacion</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46" name="Google Shape;246;p3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47" name="Google Shape;247;p31"/>
          <p:cNvGraphicFramePr/>
          <p:nvPr/>
        </p:nvGraphicFramePr>
        <p:xfrm>
          <a:off x="3064613" y="3200275"/>
          <a:ext cx="3000000" cy="3000000"/>
        </p:xfrm>
        <a:graphic>
          <a:graphicData uri="http://schemas.openxmlformats.org/drawingml/2006/table">
            <a:tbl>
              <a:tblPr>
                <a:noFill/>
                <a:tableStyleId>{24BBDE1E-296D-40B9-B01D-3F357474E97A}</a:tableStyleId>
              </a:tblPr>
              <a:tblGrid>
                <a:gridCol w="6062675"/>
              </a:tblGrid>
              <a:tr h="2929950">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static void rechazar(ContainerRequestContext contexto, String mensaje)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String json = "{\"mensaje\":\"" + escaparJson(mensaje) +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Response respuesta = Response.status(Response.Status.UNAUTHORIZED)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.type(MediaType.APPLICATION_JSON)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.entity(json)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.build();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contexto.abortWith(respuesta);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static String escaparJson(String texto)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if (texto == null)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texto.replace("\\", "\\\\").replace("\"",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
        <p:nvSpPr>
          <p:cNvPr id="248" name="Google Shape;248;p31"/>
          <p:cNvSpPr txBox="1"/>
          <p:nvPr>
            <p:ph idx="1" type="body"/>
          </p:nvPr>
        </p:nvSpPr>
        <p:spPr>
          <a:xfrm>
            <a:off x="107625" y="2738250"/>
            <a:ext cx="2980500" cy="3965700"/>
          </a:xfrm>
          <a:prstGeom prst="rect">
            <a:avLst/>
          </a:prstGeom>
          <a:noFill/>
          <a:ln>
            <a:noFill/>
          </a:ln>
        </p:spPr>
        <p:txBody>
          <a:bodyPr anchorCtr="0" anchor="ctr" bIns="45700" lIns="91425" spcFirstLastPara="1" rIns="91425" wrap="square" tIns="45700">
            <a:normAutofit/>
          </a:bodyPr>
          <a:lstStyle/>
          <a:p>
            <a:pPr indent="-335090" lvl="0" marL="457200" rtl="0" algn="l">
              <a:lnSpc>
                <a:spcPct val="107000"/>
              </a:lnSpc>
              <a:spcBef>
                <a:spcPts val="0"/>
              </a:spcBef>
              <a:spcAft>
                <a:spcPts val="0"/>
              </a:spcAft>
              <a:buSzPts val="1677"/>
              <a:buFont typeface="Cambria"/>
              <a:buChar char="∙"/>
            </a:pPr>
            <a:r>
              <a:rPr lang="es-ES" sz="1677">
                <a:latin typeface="Cambria"/>
                <a:ea typeface="Cambria"/>
                <a:cs typeface="Cambria"/>
                <a:sym typeface="Cambria"/>
              </a:rPr>
              <a:t>ManejadorAutenticacion</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54" name="Google Shape;254;p32"/>
          <p:cNvSpPr txBox="1"/>
          <p:nvPr>
            <p:ph idx="1" type="body"/>
          </p:nvPr>
        </p:nvSpPr>
        <p:spPr>
          <a:xfrm>
            <a:off x="514900" y="1777350"/>
            <a:ext cx="8313300" cy="2605800"/>
          </a:xfrm>
          <a:prstGeom prst="rect">
            <a:avLst/>
          </a:prstGeom>
          <a:noFill/>
          <a:ln>
            <a:noFill/>
          </a:ln>
        </p:spPr>
        <p:txBody>
          <a:bodyPr anchorCtr="0" anchor="ctr" bIns="45700" lIns="91425" spcFirstLastPara="1" rIns="91425" wrap="square" tIns="45700">
            <a:normAutofit/>
          </a:bodyPr>
          <a:lstStyle/>
          <a:p>
            <a:pPr indent="-342900" lvl="0" marL="342900" rtl="0" algn="just">
              <a:lnSpc>
                <a:spcPct val="107000"/>
              </a:lnSpc>
              <a:spcBef>
                <a:spcPts val="0"/>
              </a:spcBef>
              <a:spcAft>
                <a:spcPts val="0"/>
              </a:spcAft>
              <a:buSzPts val="1785"/>
              <a:buChar char="∙"/>
            </a:pPr>
            <a:r>
              <a:rPr b="1" lang="es-ES" sz="1929">
                <a:latin typeface="Cambria"/>
                <a:ea typeface="Cambria"/>
                <a:cs typeface="Cambria"/>
                <a:sym typeface="Cambria"/>
              </a:rPr>
              <a:t>1.2.5	Lógica</a:t>
            </a:r>
            <a:endParaRPr>
              <a:latin typeface="Cambria"/>
              <a:ea typeface="Cambria"/>
              <a:cs typeface="Cambria"/>
              <a:sym typeface="Cambria"/>
            </a:endParaRPr>
          </a:p>
          <a:p>
            <a:pPr indent="0" lvl="0" marL="0" rtl="0" algn="just">
              <a:lnSpc>
                <a:spcPct val="107000"/>
              </a:lnSpc>
              <a:spcBef>
                <a:spcPts val="0"/>
              </a:spcBef>
              <a:spcAft>
                <a:spcPts val="0"/>
              </a:spcAft>
              <a:buNone/>
            </a:pPr>
            <a:r>
              <a:t/>
            </a:r>
            <a:endParaRPr sz="1200">
              <a:latin typeface="Cambria"/>
              <a:ea typeface="Cambria"/>
              <a:cs typeface="Cambria"/>
              <a:sym typeface="Cambria"/>
            </a:endParaRPr>
          </a:p>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55" name="Google Shape;255;p3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56" name="Google Shape;256;p32"/>
          <p:cNvGraphicFramePr/>
          <p:nvPr/>
        </p:nvGraphicFramePr>
        <p:xfrm>
          <a:off x="1170188" y="4197475"/>
          <a:ext cx="3000000" cy="3000000"/>
        </p:xfrm>
        <a:graphic>
          <a:graphicData uri="http://schemas.openxmlformats.org/drawingml/2006/table">
            <a:tbl>
              <a:tblPr>
                <a:noFill/>
                <a:tableStyleId>{24BBDE1E-296D-40B9-B01D-3F357474E97A}</a:tableStyleId>
              </a:tblPr>
              <a:tblGrid>
                <a:gridCol w="6062675"/>
              </a:tblGrid>
              <a:tr h="1160900">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package ec.edu.monster.model.utilidades;</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public interface IConversor&lt;T&gt;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double convertir(double valor, T unidadInicial, T unidadFinal);</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62" name="Google Shape;262;p33"/>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63" name="Google Shape;263;p3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64" name="Google Shape;264;p33"/>
          <p:cNvGraphicFramePr/>
          <p:nvPr/>
        </p:nvGraphicFramePr>
        <p:xfrm>
          <a:off x="3017313" y="1838175"/>
          <a:ext cx="3000000" cy="3000000"/>
        </p:xfrm>
        <a:graphic>
          <a:graphicData uri="http://schemas.openxmlformats.org/drawingml/2006/table">
            <a:tbl>
              <a:tblPr>
                <a:noFill/>
                <a:tableStyleId>{24BBDE1E-296D-40B9-B01D-3F357474E97A}</a:tableStyleId>
              </a:tblPr>
              <a:tblGrid>
                <a:gridCol w="6062675"/>
              </a:tblGrid>
              <a:tr h="1160900">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package ec.edu.monster.model.utilidades;</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ec.edu.monster.model.utilidades.enums.UnidadLongitud;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java.util.Map;</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public class ConversorLongitud implements IConversor&lt;UnidadLongitud&gt;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final Map&lt;UnidadLongitud, Double&gt; factores = Map.of(</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UnidadLongitud.MILIMETRO, 0.001,</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UnidadLongitud.CENTIMETRO, 0.01,</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UnidadLongitud.METRO, 1.0,</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UnidadLongitud.KILOMETRO, 1000.0,</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UnidadLongitud.YARDA, 0.9144</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ConversorLongitud()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@Override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double convertir(double valor, UnidadLongitud unidadOrigen, UnidadLongitud unidadFinal)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if (unidadOrigen == null || unidadFinal == null)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throw new IllegalArgumentException("Las unidades no pueden ser null");</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if (!factores.containsKey(unidadOrigen) || !factores.containsKey(unidadFinal))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throw new IllegalArgumentException("Unidad no soportada");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double valorEnBase = valor * factores.get(unidadOrigen);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valorEnBase / factores.get(unidadFinal);</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70" name="Google Shape;270;p34"/>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71" name="Google Shape;271;p3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72" name="Google Shape;272;p34"/>
          <p:cNvGraphicFramePr/>
          <p:nvPr/>
        </p:nvGraphicFramePr>
        <p:xfrm>
          <a:off x="3017313" y="1838175"/>
          <a:ext cx="3000000" cy="3000000"/>
        </p:xfrm>
        <a:graphic>
          <a:graphicData uri="http://schemas.openxmlformats.org/drawingml/2006/table">
            <a:tbl>
              <a:tblPr>
                <a:noFill/>
                <a:tableStyleId>{24BBDE1E-296D-40B9-B01D-3F357474E97A}</a:tableStyleId>
              </a:tblPr>
              <a:tblGrid>
                <a:gridCol w="6062675"/>
              </a:tblGrid>
              <a:tr h="11609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package ec.edu.monster.model.utilidades;</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ec.edu.monster.model.utilidades.enums.UnidadMasa;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java.util.Map;</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public class ConversorMasa implements IConversor&lt;UnidadMasa&gt;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private final Map&lt;UnidadMasa, Double&gt; factores = Map.of(</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UnidadMasa.MILIGRAMO, 0.001,</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UnidadMasa.GRAMO, 1.0,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UnidadMasa.KILOGRAMO, 1000.0,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UnidadMasa.TONELADA, 1_000_000.0,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UnidadMasa.ONZA, 28.3495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ConversorMasa()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@Override</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convertir(double valor, UnidadMasa unidadOrigen, UnidadMasa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(unidadOrigen == null || unidadFinal == null)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IllegalArgumentException("Las unidades no pueden ser null");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IllegalArgumentException("Unidad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double valorEnBase = valor * factores.get(unidadOrigen);</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valorEnBase / factores.get(unidadFinal);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78" name="Google Shape;278;p35"/>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79" name="Google Shape;279;p3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80" name="Google Shape;280;p35"/>
          <p:cNvGraphicFramePr/>
          <p:nvPr/>
        </p:nvGraphicFramePr>
        <p:xfrm>
          <a:off x="2863113" y="1840225"/>
          <a:ext cx="3000000" cy="3000000"/>
        </p:xfrm>
        <a:graphic>
          <a:graphicData uri="http://schemas.openxmlformats.org/drawingml/2006/table">
            <a:tbl>
              <a:tblPr>
                <a:noFill/>
                <a:tableStyleId>{24BBDE1E-296D-40B9-B01D-3F357474E97A}</a:tableStyleId>
              </a:tblPr>
              <a:tblGrid>
                <a:gridCol w="6062675"/>
              </a:tblGrid>
              <a:tr h="11609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package ec.edu.monster.model.utilidades;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ec.edu.monster.model.utilidades.enums.UnidadTemperatura;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public class ConversorTemperatura implements IConversor&lt;UnidadTemperatura&gt;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ConversorTemperatura()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@Override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double convertir(double valor, UnidadTemperatura origen, UnidadTemperatura destino)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(origen == null || destino == null)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throw new IllegalArgumentException("Las unidades no pueden ser null");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(origen == destino)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valor;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switch (origen)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case CELSIUS -&gt; switch (destino)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case FAHRENHEIT -&gt; (valor * 9 / 5) + 32;</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case KELVIN -&gt; valor + 273.15;</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case RANKINE -&gt; (valor + 273.15) * 9 / 5;</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default -&gt; throw new IllegalArgumentException("Conversión no soportada");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Lógica similar para FAHRENHEIT, KELVIN, RANKINE...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86" name="Google Shape;286;p36"/>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a:bodyPr>
          <a:lstStyle/>
          <a:p>
            <a:pPr indent="0" lvl="0" marL="0" rtl="0" algn="just">
              <a:lnSpc>
                <a:spcPct val="107000"/>
              </a:lnSpc>
              <a:spcBef>
                <a:spcPts val="0"/>
              </a:spcBef>
              <a:spcAft>
                <a:spcPts val="0"/>
              </a:spcAft>
              <a:buNone/>
            </a:pPr>
            <a:r>
              <a:rPr lang="es-ES" sz="1200">
                <a:latin typeface="Cambria"/>
                <a:ea typeface="Cambria"/>
                <a:cs typeface="Cambria"/>
                <a:sym typeface="Cambria"/>
              </a:rPr>
              <a:t>Aplicando una interfaz con el fin de hacer que el servicio pueda inyectar cualquier tipo de conversión sin limitarse a uno en concreto como se puede ver en la Tabla del Servicio</a:t>
            </a:r>
            <a:endParaRPr sz="1300">
              <a:latin typeface="Cambria"/>
              <a:ea typeface="Cambria"/>
              <a:cs typeface="Cambria"/>
              <a:sym typeface="Cambria"/>
            </a:endParaRPr>
          </a:p>
        </p:txBody>
      </p:sp>
      <p:sp>
        <p:nvSpPr>
          <p:cNvPr id="287" name="Google Shape;287;p3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88" name="Google Shape;288;p36"/>
          <p:cNvGraphicFramePr/>
          <p:nvPr/>
        </p:nvGraphicFramePr>
        <p:xfrm>
          <a:off x="2891513" y="2557313"/>
          <a:ext cx="3000000" cy="3000000"/>
        </p:xfrm>
        <a:graphic>
          <a:graphicData uri="http://schemas.openxmlformats.org/drawingml/2006/table">
            <a:tbl>
              <a:tblPr>
                <a:noFill/>
                <a:tableStyleId>{24BBDE1E-296D-40B9-B01D-3F357474E97A}</a:tableStyleId>
              </a:tblPr>
              <a:tblGrid>
                <a:gridCol w="6062675"/>
              </a:tblGrid>
              <a:tr h="1160900">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package ec.edu.monster.model.servicios;</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ec.edu.monster.model.utilidades.IConversor;</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public class ServicioConversor&lt;T&gt;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final IConversor&lt;T&gt; conversor;</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ServicioConversor(IConversor&lt;T&gt; conversor)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this.conversor = conversor;</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double convertir(double valor, T origen, T destino)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if (conversor == null)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throw new IllegalStateException("No se ha inyectado un conversor");</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conversor.convertir(valor, origen, destino);</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94" name="Google Shape;294;p37"/>
          <p:cNvSpPr txBox="1"/>
          <p:nvPr>
            <p:ph idx="1" type="body"/>
          </p:nvPr>
        </p:nvSpPr>
        <p:spPr>
          <a:xfrm>
            <a:off x="581200" y="2018775"/>
            <a:ext cx="2685600" cy="45588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1.2.6 	Ejecución en Servidor</a:t>
            </a:r>
            <a:endParaRPr>
              <a:latin typeface="Cambria"/>
              <a:ea typeface="Cambria"/>
              <a:cs typeface="Cambria"/>
              <a:sym typeface="Cambria"/>
            </a:endParaRPr>
          </a:p>
          <a:p>
            <a:pPr indent="-323850" lvl="0" marL="342900" marR="0" rtl="0" algn="just">
              <a:lnSpc>
                <a:spcPct val="107000"/>
              </a:lnSpc>
              <a:spcBef>
                <a:spcPts val="0"/>
              </a:spcBef>
              <a:spcAft>
                <a:spcPts val="0"/>
              </a:spcAft>
              <a:buSzPts val="1356"/>
              <a:buFont typeface="Cambria"/>
              <a:buChar char="∙"/>
            </a:pPr>
            <a:r>
              <a:rPr lang="es-ES" sz="1500">
                <a:latin typeface="Cambria"/>
                <a:ea typeface="Cambria"/>
                <a:cs typeface="Cambria"/>
                <a:sym typeface="Cambria"/>
              </a:rPr>
              <a:t>Se ejecuta el programa corriendo el programa en el servidor Payara a través de las metas de empaquetado WAR. los endpoints se localizan y verifican accediendo a las rutas definidas a través de clientes web o software para pruebas de API como Postman.</a:t>
            </a:r>
            <a:endParaRPr sz="1500">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295" name="Google Shape;295;p3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SERVIDOR </a:t>
            </a:r>
            <a:r>
              <a:rPr b="1" lang="es-ES" sz="1200">
                <a:solidFill>
                  <a:srgbClr val="FFFF00"/>
                </a:solidFill>
                <a:latin typeface="Gill Sans"/>
                <a:ea typeface="Gill Sans"/>
                <a:cs typeface="Gill Sans"/>
                <a:sym typeface="Gill Sans"/>
              </a:rPr>
              <a:t>RESTful</a:t>
            </a:r>
            <a:endParaRPr b="0" i="0" sz="1400" u="none" cap="none" strike="noStrike">
              <a:solidFill>
                <a:srgbClr val="FFFF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p37"/>
          <p:cNvPicPr preferRelativeResize="0"/>
          <p:nvPr/>
        </p:nvPicPr>
        <p:blipFill>
          <a:blip r:embed="rId3">
            <a:alphaModFix/>
          </a:blip>
          <a:stretch>
            <a:fillRect/>
          </a:stretch>
        </p:blipFill>
        <p:spPr>
          <a:xfrm>
            <a:off x="3458225" y="2911825"/>
            <a:ext cx="5734050" cy="3095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accent2"/>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PROYECTO – CLIENTE CONSOLA</a:t>
            </a:r>
            <a:endParaRPr b="1" i="0" sz="1200" u="none" cap="none" strike="noStrike">
              <a:solidFill>
                <a:srgbClr val="FFFF00"/>
              </a:solidFill>
              <a:latin typeface="Gill Sans"/>
              <a:ea typeface="Gill Sans"/>
              <a:cs typeface="Gill Sans"/>
              <a:sym typeface="Gill Sans"/>
            </a:endParaRPr>
          </a:p>
          <a:p>
            <a:pPr indent="-312096" lvl="1" marL="763200" marR="0" rtl="0" algn="l">
              <a:lnSpc>
                <a:spcPct val="100000"/>
              </a:lnSpc>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3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03" name="Google Shape;303;p38"/>
          <p:cNvSpPr txBox="1"/>
          <p:nvPr>
            <p:ph idx="1" type="body"/>
          </p:nvPr>
        </p:nvSpPr>
        <p:spPr>
          <a:xfrm>
            <a:off x="581200" y="1983000"/>
            <a:ext cx="8581500" cy="2149500"/>
          </a:xfrm>
          <a:prstGeom prst="rect">
            <a:avLst/>
          </a:prstGeom>
          <a:noFill/>
          <a:ln>
            <a:noFill/>
          </a:ln>
        </p:spPr>
        <p:txBody>
          <a:bodyPr anchorCtr="0" anchor="ctr" bIns="45700" lIns="91425" spcFirstLastPara="1" rIns="91425" wrap="square" tIns="45700">
            <a:normAutofit fontScale="92500" lnSpcReduction="10000"/>
          </a:bodyPr>
          <a:lstStyle/>
          <a:p>
            <a:pPr indent="0" lvl="0" marL="0" rtl="0" algn="l">
              <a:lnSpc>
                <a:spcPct val="115000"/>
              </a:lnSpc>
              <a:spcBef>
                <a:spcPts val="1200"/>
              </a:spcBef>
              <a:spcAft>
                <a:spcPts val="0"/>
              </a:spcAft>
              <a:buClr>
                <a:schemeClr val="dk1"/>
              </a:buClr>
              <a:buSzPct val="70332"/>
              <a:buFont typeface="Arial"/>
              <a:buNone/>
            </a:pPr>
            <a:r>
              <a:rPr b="1" lang="es-ES" sz="1564">
                <a:latin typeface="Cambria"/>
                <a:ea typeface="Cambria"/>
                <a:cs typeface="Cambria"/>
                <a:sym typeface="Cambria"/>
              </a:rPr>
              <a:t>1.3 	CREACIÓN DEL PROYECTO CLIENTE CONSOLA</a:t>
            </a:r>
            <a:endParaRPr b="1" sz="1564">
              <a:latin typeface="Cambria"/>
              <a:ea typeface="Cambria"/>
              <a:cs typeface="Cambria"/>
              <a:sym typeface="Cambria"/>
            </a:endParaRPr>
          </a:p>
          <a:p>
            <a:pPr indent="0" lvl="0" marL="0" rtl="0" algn="l">
              <a:lnSpc>
                <a:spcPct val="115000"/>
              </a:lnSpc>
              <a:spcBef>
                <a:spcPts val="1200"/>
              </a:spcBef>
              <a:spcAft>
                <a:spcPts val="0"/>
              </a:spcAft>
              <a:buClr>
                <a:schemeClr val="dk1"/>
              </a:buClr>
              <a:buSzPct val="70332"/>
              <a:buFont typeface="Arial"/>
              <a:buNone/>
            </a:pPr>
            <a:r>
              <a:t/>
            </a:r>
            <a:endParaRPr b="1" sz="1564">
              <a:latin typeface="Cambria"/>
              <a:ea typeface="Cambria"/>
              <a:cs typeface="Cambria"/>
              <a:sym typeface="Cambria"/>
            </a:endParaRPr>
          </a:p>
          <a:p>
            <a:pPr indent="-320465" lvl="0" marL="457200" rtl="0" algn="l">
              <a:lnSpc>
                <a:spcPct val="115000"/>
              </a:lnSpc>
              <a:spcBef>
                <a:spcPts val="0"/>
              </a:spcBef>
              <a:spcAft>
                <a:spcPts val="0"/>
              </a:spcAft>
              <a:buSzPct val="100000"/>
              <a:buFont typeface="Cambria"/>
              <a:buChar char="◼"/>
            </a:pPr>
            <a:r>
              <a:rPr lang="es-ES" sz="1564">
                <a:latin typeface="Cambria"/>
                <a:ea typeface="Cambria"/>
                <a:cs typeface="Cambria"/>
                <a:sym typeface="Cambria"/>
              </a:rPr>
              <a:t>Para el cliente consola se uso NetBeans en el cual se debe crear un nuevo proyecto para ello se seleccionó el gestor de proyectos Java with Maven, el tipo de aplicativo que se usa es Java Aplication</a:t>
            </a:r>
            <a:endParaRPr sz="1564">
              <a:latin typeface="Cambria"/>
              <a:ea typeface="Cambria"/>
              <a:cs typeface="Cambria"/>
              <a:sym typeface="Cambria"/>
            </a:endParaRPr>
          </a:p>
          <a:p>
            <a:pPr indent="-320465" lvl="0" marL="457200" rtl="0" algn="l">
              <a:lnSpc>
                <a:spcPct val="115000"/>
              </a:lnSpc>
              <a:spcBef>
                <a:spcPts val="0"/>
              </a:spcBef>
              <a:spcAft>
                <a:spcPts val="0"/>
              </a:spcAft>
              <a:buSzPct val="100000"/>
              <a:buFont typeface="Cambria"/>
              <a:buChar char="◼"/>
            </a:pPr>
            <a:r>
              <a:rPr lang="es-ES" sz="1564">
                <a:latin typeface="Cambria"/>
                <a:ea typeface="Cambria"/>
                <a:cs typeface="Cambria"/>
                <a:sym typeface="Cambria"/>
              </a:rPr>
              <a:t>Se asigna un nombre al proyecto, se da una ubicación, y se configura el group id con el que se quiere nombrar.</a:t>
            </a:r>
            <a:endParaRPr sz="1564">
              <a:latin typeface="Cambria"/>
              <a:ea typeface="Cambria"/>
              <a:cs typeface="Cambria"/>
              <a:sym typeface="Cambria"/>
            </a:endParaRPr>
          </a:p>
          <a:p>
            <a:pPr indent="0" lvl="0" marL="0" rtl="0" algn="l">
              <a:lnSpc>
                <a:spcPct val="115000"/>
              </a:lnSpc>
              <a:spcBef>
                <a:spcPts val="1200"/>
              </a:spcBef>
              <a:spcAft>
                <a:spcPts val="1200"/>
              </a:spcAft>
              <a:buSzPct val="99162"/>
              <a:buNone/>
            </a:pPr>
            <a:r>
              <a:t/>
            </a:r>
            <a:endParaRPr sz="1670">
              <a:latin typeface="Cambria"/>
              <a:ea typeface="Cambria"/>
              <a:cs typeface="Cambria"/>
              <a:sym typeface="Cambria"/>
            </a:endParaRPr>
          </a:p>
        </p:txBody>
      </p:sp>
      <p:pic>
        <p:nvPicPr>
          <p:cNvPr id="304" name="Google Shape;304;p38"/>
          <p:cNvPicPr preferRelativeResize="0"/>
          <p:nvPr/>
        </p:nvPicPr>
        <p:blipFill>
          <a:blip r:embed="rId3">
            <a:alphaModFix/>
          </a:blip>
          <a:stretch>
            <a:fillRect/>
          </a:stretch>
        </p:blipFill>
        <p:spPr>
          <a:xfrm>
            <a:off x="310225" y="3765900"/>
            <a:ext cx="4026983" cy="2749325"/>
          </a:xfrm>
          <a:prstGeom prst="rect">
            <a:avLst/>
          </a:prstGeom>
          <a:noFill/>
          <a:ln>
            <a:noFill/>
          </a:ln>
        </p:spPr>
      </p:pic>
      <p:pic>
        <p:nvPicPr>
          <p:cNvPr id="305" name="Google Shape;305;p38"/>
          <p:cNvPicPr preferRelativeResize="0"/>
          <p:nvPr/>
        </p:nvPicPr>
        <p:blipFill>
          <a:blip r:embed="rId4">
            <a:alphaModFix/>
          </a:blip>
          <a:stretch>
            <a:fillRect/>
          </a:stretch>
        </p:blipFill>
        <p:spPr>
          <a:xfrm>
            <a:off x="4814076" y="3707712"/>
            <a:ext cx="4092737" cy="2865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accent2"/>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PROYECTO – CLIENTE CONSOLA</a:t>
            </a:r>
            <a:endParaRPr b="1" i="0" sz="1200" u="none" cap="none" strike="noStrike">
              <a:solidFill>
                <a:srgbClr val="FFFF00"/>
              </a:solidFill>
              <a:latin typeface="Gill Sans"/>
              <a:ea typeface="Gill Sans"/>
              <a:cs typeface="Gill Sans"/>
              <a:sym typeface="Gill Sans"/>
            </a:endParaRPr>
          </a:p>
          <a:p>
            <a:pPr indent="-312096" lvl="1" marL="763200" marR="0" rtl="0" algn="l">
              <a:lnSpc>
                <a:spcPct val="100000"/>
              </a:lnSpc>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3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12" name="Google Shape;312;p39"/>
          <p:cNvSpPr txBox="1"/>
          <p:nvPr>
            <p:ph idx="1" type="body"/>
          </p:nvPr>
        </p:nvSpPr>
        <p:spPr>
          <a:xfrm>
            <a:off x="581200" y="1983000"/>
            <a:ext cx="8581500" cy="101370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15000"/>
              </a:lnSpc>
              <a:spcBef>
                <a:spcPts val="1200"/>
              </a:spcBef>
              <a:spcAft>
                <a:spcPts val="0"/>
              </a:spcAft>
              <a:buClr>
                <a:schemeClr val="dk1"/>
              </a:buClr>
              <a:buSzPts val="1100"/>
              <a:buFont typeface="Arial"/>
              <a:buNone/>
            </a:pPr>
            <a:r>
              <a:t/>
            </a:r>
            <a:endParaRPr b="1" sz="1564">
              <a:latin typeface="Cambria"/>
              <a:ea typeface="Cambria"/>
              <a:cs typeface="Cambria"/>
              <a:sym typeface="Cambria"/>
            </a:endParaRPr>
          </a:p>
          <a:p>
            <a:pPr indent="-327914" lvl="0" marL="457200" rtl="0" algn="l">
              <a:lnSpc>
                <a:spcPct val="115000"/>
              </a:lnSpc>
              <a:spcBef>
                <a:spcPts val="0"/>
              </a:spcBef>
              <a:spcAft>
                <a:spcPts val="0"/>
              </a:spcAft>
              <a:buSzPts val="1564"/>
              <a:buFont typeface="Cambria"/>
              <a:buChar char="◼"/>
            </a:pPr>
            <a:r>
              <a:rPr lang="es-ES" sz="1564">
                <a:latin typeface="Cambria"/>
                <a:ea typeface="Cambria"/>
                <a:cs typeface="Cambria"/>
                <a:sym typeface="Cambria"/>
              </a:rPr>
              <a:t>Después se crean los paquetes del proyecto</a:t>
            </a:r>
            <a:endParaRPr sz="1564">
              <a:latin typeface="Cambria"/>
              <a:ea typeface="Cambria"/>
              <a:cs typeface="Cambria"/>
              <a:sym typeface="Cambria"/>
            </a:endParaRPr>
          </a:p>
          <a:p>
            <a:pPr indent="0" lvl="0" marL="0" rtl="0" algn="l">
              <a:lnSpc>
                <a:spcPct val="115000"/>
              </a:lnSpc>
              <a:spcBef>
                <a:spcPts val="1200"/>
              </a:spcBef>
              <a:spcAft>
                <a:spcPts val="1200"/>
              </a:spcAft>
              <a:buSzPts val="1656"/>
              <a:buNone/>
            </a:pPr>
            <a:r>
              <a:t/>
            </a:r>
            <a:endParaRPr sz="1670">
              <a:latin typeface="Cambria"/>
              <a:ea typeface="Cambria"/>
              <a:cs typeface="Cambria"/>
              <a:sym typeface="Cambria"/>
            </a:endParaRPr>
          </a:p>
        </p:txBody>
      </p:sp>
      <p:pic>
        <p:nvPicPr>
          <p:cNvPr id="313" name="Google Shape;313;p39"/>
          <p:cNvPicPr preferRelativeResize="0"/>
          <p:nvPr/>
        </p:nvPicPr>
        <p:blipFill>
          <a:blip r:embed="rId3">
            <a:alphaModFix/>
          </a:blip>
          <a:stretch>
            <a:fillRect/>
          </a:stretch>
        </p:blipFill>
        <p:spPr>
          <a:xfrm>
            <a:off x="1902775" y="2648825"/>
            <a:ext cx="5603950" cy="3526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19" name="Google Shape;319;p40"/>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20" name="Google Shape;320;p4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21" name="Google Shape;321;p40"/>
          <p:cNvGraphicFramePr/>
          <p:nvPr/>
        </p:nvGraphicFramePr>
        <p:xfrm>
          <a:off x="2964625" y="1876275"/>
          <a:ext cx="3000000" cy="3000000"/>
        </p:xfrm>
        <a:graphic>
          <a:graphicData uri="http://schemas.openxmlformats.org/drawingml/2006/table">
            <a:tbl>
              <a:tblPr>
                <a:noFill/>
                <a:tableStyleId>{24BBDE1E-296D-40B9-B01D-3F357474E97A}</a:tableStyleId>
              </a:tblPr>
              <a:tblGrid>
                <a:gridCol w="6062675"/>
              </a:tblGrid>
              <a:tr h="4701300">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package ec.edu.monster.modelos;</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java.net.URI;</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java.net.http.HttpClient;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java.net.http.HttpRequest;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java.net.http.HttpResponse;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java.util.regex.Matcher;</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java.util.regex.Pattern;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public class ModeloClienteRest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static final String URL_BASE = "http://localhost:8080/04.SERVIDOR/api";</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final HttpClient clienteHttp;</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private String tokenSesion;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ModeloClienteRest()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this.clienteHttp = HttpClient.newHttpClient();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boolean estaAutenticado()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return tokenSesion != null;</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void cerrarSesion()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this.tokenSesion = null;</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27" name="Google Shape;327;p41"/>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28" name="Google Shape;328;p4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29" name="Google Shape;329;p41"/>
          <p:cNvGraphicFramePr/>
          <p:nvPr/>
        </p:nvGraphicFramePr>
        <p:xfrm>
          <a:off x="2964625" y="1876275"/>
          <a:ext cx="3000000" cy="3000000"/>
        </p:xfrm>
        <a:graphic>
          <a:graphicData uri="http://schemas.openxmlformats.org/drawingml/2006/table">
            <a:tbl>
              <a:tblPr>
                <a:noFill/>
                <a:tableStyleId>{24BBDE1E-296D-40B9-B01D-3F357474E97A}</a:tableStyleId>
              </a:tblPr>
              <a:tblGrid>
                <a:gridCol w="6062675"/>
              </a:tblGrid>
              <a:tr h="4701300">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public void iniciarSesion(String usuario, String contrasenia) throws Exception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Respetamos @JsonbProperty de tu API</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String jsonPeticion = String.format("{\"Usuario\": \"%s\", \"Contrasena\": \"%s\"}", usuario, contrasenia);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HttpRequest peticion = HttpRequest.newBuilder()</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.uri(URI.create(URL_BASE + "/seguridad/login"))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.header("Content-Type", "application/json")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.POST(HttpRequest.BodyPublishers.ofString(jsonPeticion))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.build();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HttpResponse&lt;String&gt; respuesta = clienteHttp.send(peticion, HttpResponse.BodyHandlers.ofString());</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if (respuesta.statusCode() == 200)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this.tokenSesion = extraerValorJson(respuesta.body(), "token", false);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 else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throw new Exception("Credenciales incorrectas o error de servidor (" + respuesta.statusCode() +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35" name="Google Shape;335;p42"/>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36" name="Google Shape;336;p4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37" name="Google Shape;337;p42"/>
          <p:cNvGraphicFramePr/>
          <p:nvPr/>
        </p:nvGraphicFramePr>
        <p:xfrm>
          <a:off x="2964625" y="1876275"/>
          <a:ext cx="3000000" cy="3000000"/>
        </p:xfrm>
        <a:graphic>
          <a:graphicData uri="http://schemas.openxmlformats.org/drawingml/2006/table">
            <a:tbl>
              <a:tblPr>
                <a:noFill/>
                <a:tableStyleId>{24BBDE1E-296D-40B9-B01D-3F357474E97A}</a:tableStyleId>
              </a:tblPr>
              <a:tblGrid>
                <a:gridCol w="6062675"/>
              </a:tblGrid>
              <a:tr h="47013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public void cambiarContrasenia(String contraseniaActual, String contraseniaNueva) throws Exception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jsonPeticion = String.format("{\"ContrasenaActual\": \"%s\", \"NuevaContrasena\": \"%s\"}", contraseniaActual, contraseniaNueva);</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HttpRequest peticion = HttpRequest.newBuilder()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.uri(URI.create(URL_BASE + "/seguridad/cambiar-contrasena"))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.header("Content-Type", "application/json")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.header("Authorization", "Bearer " + this.tokenSesion)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.POST(HttpRequest.BodyPublishers.ofString(jsonPeticion))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.build();</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HttpResponse&lt;String&gt; respuesta = clienteHttp.send(peticion, HttpResponse.BodyHandlers.ofString());</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(respuesta.statusCode() != 200)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throw new Exception("No se pudo cambiar la contraseña (" + respuesta.statusCode() +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double convertirMagnitud(String tipoMagnitud, double valor, String unidadOrigen, String unidadDestino) throws Exception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jsonPeticion = String.format(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"{\"Valor\": %s, \"UnidadOrigen\": \"%s\", \"UnidadDestino\": \"%s\"}",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String.valueOf(valor).replace(",", "."), unidadOrigen, unidadDestino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43" name="Google Shape;343;p43"/>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44" name="Google Shape;344;p4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45" name="Google Shape;345;p43"/>
          <p:cNvGraphicFramePr/>
          <p:nvPr/>
        </p:nvGraphicFramePr>
        <p:xfrm>
          <a:off x="2964625" y="1876275"/>
          <a:ext cx="3000000" cy="3000000"/>
        </p:xfrm>
        <a:graphic>
          <a:graphicData uri="http://schemas.openxmlformats.org/drawingml/2006/table">
            <a:tbl>
              <a:tblPr>
                <a:noFill/>
                <a:tableStyleId>{24BBDE1E-296D-40B9-B01D-3F357474E97A}</a:tableStyleId>
              </a:tblPr>
              <a:tblGrid>
                <a:gridCol w="6062675"/>
              </a:tblGrid>
              <a:tr h="47013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HttpRequest peticion = HttpRequest.newBuilder()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.uri(URI.create(URL_BASE + "/conversiones/" + tipoMagnitud))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.header("Content-Type", "application/json")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.header("Authorization", "Bearer " + this.tokenSesion)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.POST(HttpRequest.BodyPublishers.ofString(jsonPeticion))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.build();</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HttpResponse&lt;String&gt; respuesta = clienteHttp.send(peticion, HttpResponse.BodyHandlers.ofString());</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(respuesta.statusCode() == 200)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resultadoStr = extraerValorJson(respuesta.body(), "valorConvertido", true);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Double.parseDouble(resultadoStr);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else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throw new Exception("Error en la conversión: Verifica las unidades ingresadas.");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Utilidad interna para parsear JSON sin librerías pesadas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extraerValorJson(String json, String clave, boolean esNumero)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patron = esNumero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 + clave + "\"\\s*:\\s*([0-9\\.]+)"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 + clave + "\"\\s*:\\s*\"([^\"]+)\"";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Matcher buscador = Pattern.compile(patron, Pattern.CASE_INSENSITIVE).matcher(json);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buscador.find() ? buscador.group(1) : "0";</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51" name="Google Shape;351;p4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52" name="Google Shape;352;p4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53" name="Google Shape;353;p44"/>
          <p:cNvGraphicFramePr/>
          <p:nvPr/>
        </p:nvGraphicFramePr>
        <p:xfrm>
          <a:off x="2278500" y="1818850"/>
          <a:ext cx="3000000" cy="3000000"/>
        </p:xfrm>
        <a:graphic>
          <a:graphicData uri="http://schemas.openxmlformats.org/drawingml/2006/table">
            <a:tbl>
              <a:tblPr>
                <a:noFill/>
                <a:tableStyleId>{24BBDE1E-296D-40B9-B01D-3F357474E97A}</a:tableStyleId>
              </a:tblPr>
              <a:tblGrid>
                <a:gridCol w="5439425"/>
              </a:tblGrid>
              <a:tr h="47013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package client.ws;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jakarta.xml.ws.Binding;</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jakarta.xml.ws.BindingProvider;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jakarta.xml.ws.Service;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jakarta.xml.ws.handler.Handler;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java.net.URL;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java.util.ArrayList;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java.util.List;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javax.xml.namespace.QName;</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public class ClienteWSConversor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String ESPACIO_NOMBRES = "http://ws.controladores.monster.edu.ec/";</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String PROPIEDAD_BASE_WS = "ws.base.url";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String VARIABLE_BASE_WS = "WS_BASE_URL";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QName QNOMBRE_SERVICIO = new QName(ESPACIO_NOMBRES, "WSConversorUnidades");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QName QNOMBRE_PUERTO = new QName(ESPACIO_NOMBRES, "WSConversorUnidadesPort");</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List&lt;String&gt; BASES_URL_POR_DEFECTO = List.of(</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"http://localhost:8080/04.SERVIDOR",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"http://localhost:8080/WS_ConUni_Java_GR5",</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"http://localhost:8080/WS_ConUni_Java_GR5-1.0-SNAPSHOT"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59" name="Google Shape;359;p4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60" name="Google Shape;360;p4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61" name="Google Shape;361;p45"/>
          <p:cNvGraphicFramePr/>
          <p:nvPr/>
        </p:nvGraphicFramePr>
        <p:xfrm>
          <a:off x="2043325" y="2041263"/>
          <a:ext cx="3000000" cy="3000000"/>
        </p:xfrm>
        <a:graphic>
          <a:graphicData uri="http://schemas.openxmlformats.org/drawingml/2006/table">
            <a:tbl>
              <a:tblPr>
                <a:noFill/>
                <a:tableStyleId>{24BBDE1E-296D-40B9-B01D-3F357474E97A}</a:tableStyleId>
              </a:tblPr>
              <a:tblGrid>
                <a:gridCol w="3522650"/>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private final ContratoWSConversor puerto;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endpointActivo;</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ClienteWSConversor()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this.puerto = inicializarPuerto();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ContratoWSConversor inicializarPuerto()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basesUrl = construirBasesUrl();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wsdlsIntentados = new ArrayList&lt;&gt;();</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for (String baseUrl : basesUrl)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endpoint = baseUrl + "/WSConversorUnidades";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wsdlsCandidatos = List.of(</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endpoint + "?WSDL",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endpoint + "?wsdl"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362" name="Google Shape;362;p45"/>
          <p:cNvGraphicFramePr/>
          <p:nvPr/>
        </p:nvGraphicFramePr>
        <p:xfrm>
          <a:off x="5684675" y="2041263"/>
          <a:ext cx="3000000" cy="3000000"/>
        </p:xfrm>
        <a:graphic>
          <a:graphicData uri="http://schemas.openxmlformats.org/drawingml/2006/table">
            <a:tbl>
              <a:tblPr>
                <a:noFill/>
                <a:tableStyleId>{24BBDE1E-296D-40B9-B01D-3F357474E97A}</a:tableStyleId>
              </a:tblPr>
              <a:tblGrid>
                <a:gridCol w="3699025"/>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for (String wsdl : wsdlsCandidatos)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try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Service servicio = Service.create(new URL(wsdl), QNOMBRE_SERVICIO);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ContratoWSConversor puertoTemporal = servicio.getPort(QNOMBRE_PUERTO, ContratoWSConversor.class);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BindingProvider proveedor = (BindingProvider) puertoTemporal;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proveedor.getRequestContext().put(BindingProvider.ENDPOINT_ADDRESS_PROPERTY, endpoint);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configurarManejadorToken(proveedor);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this.endpointActivo = endpoint;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puertoTemporal;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catch (Exception ex)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wsdlsIntentados.add(wsdl);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68" name="Google Shape;368;p46"/>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69" name="Google Shape;369;p4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70" name="Google Shape;370;p46"/>
          <p:cNvGraphicFramePr/>
          <p:nvPr/>
        </p:nvGraphicFramePr>
        <p:xfrm>
          <a:off x="2043325" y="2041263"/>
          <a:ext cx="3000000" cy="3000000"/>
        </p:xfrm>
        <a:graphic>
          <a:graphicData uri="http://schemas.openxmlformats.org/drawingml/2006/table">
            <a:tbl>
              <a:tblPr>
                <a:noFill/>
                <a:tableStyleId>{24BBDE1E-296D-40B9-B01D-3F357474E97A}</a:tableStyleId>
              </a:tblPr>
              <a:tblGrid>
                <a:gridCol w="3522650"/>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throw new IllegalStateException(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"No fue posible inicializar el cliente SOAP.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"No se encontro el WSDL en ninguna URL candidata: " + String.join(", ", wsdlsIntentados)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 Verifique que 04. SERVIDOR este desplegado y activo en Payara."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List&lt;String&gt; construirBasesUrl()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basesUrl = new ArrayList&lt;&gt;();</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baseConfigurada = obtenerBaseConfigurada();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(baseConfigurada != null &amp;&amp; !baseConfigurada.isBlank())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basesUrl.add(normalizarBase(baseConfigurada));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for (String baseDefecto : BASES_URL_POR_DEFECTO)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(!basesUrl.contains(baseDefecto))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basesUrl.add(baseDefecto);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basesUrl;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371" name="Google Shape;371;p46"/>
          <p:cNvGraphicFramePr/>
          <p:nvPr/>
        </p:nvGraphicFramePr>
        <p:xfrm>
          <a:off x="5684675" y="2041263"/>
          <a:ext cx="3000000" cy="3000000"/>
        </p:xfrm>
        <a:graphic>
          <a:graphicData uri="http://schemas.openxmlformats.org/drawingml/2006/table">
            <a:tbl>
              <a:tblPr>
                <a:noFill/>
                <a:tableStyleId>{24BBDE1E-296D-40B9-B01D-3F357474E97A}</a:tableStyleId>
              </a:tblPr>
              <a:tblGrid>
                <a:gridCol w="3699025"/>
              </a:tblGrid>
              <a:tr h="3972225">
                <a:tc>
                  <a:txBody>
                    <a:bodyPr/>
                    <a:lstStyle/>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obtenerBaseConfigurada()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desdePropiedad = System.getProperty(PROPIEDAD_BASE_WS);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(desdePropiedad != null &amp;&amp; !desdePropiedad.isBlank())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desdePropiedad;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desdeVariable = System.getenv(VARIABLE_BASE_WS);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(desdeVariable != null &amp;&amp; !desdeVariable.isBlank())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desdeVariable;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null;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normalizarBase(String base)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baseNormalizada = base.trim();</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while (baseNormalizada.endsWith("/"))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baseNormalizada = baseNormalizada.substring(0, baseNormalizada.length() - 1);</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baseNormalizada;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77" name="Google Shape;377;p47"/>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78" name="Google Shape;378;p4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79" name="Google Shape;379;p47"/>
          <p:cNvGraphicFramePr/>
          <p:nvPr/>
        </p:nvGraphicFramePr>
        <p:xfrm>
          <a:off x="2043325" y="2041263"/>
          <a:ext cx="3000000" cy="3000000"/>
        </p:xfrm>
        <a:graphic>
          <a:graphicData uri="http://schemas.openxmlformats.org/drawingml/2006/table">
            <a:tbl>
              <a:tblPr>
                <a:noFill/>
                <a:tableStyleId>{24BBDE1E-296D-40B9-B01D-3F357474E97A}</a:tableStyleId>
              </a:tblPr>
              <a:tblGrid>
                <a:gridCol w="3522650"/>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void configurarManejadorToken(BindingProvider proveedor)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Binding enlace = proveedor.getBinding();</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List&lt;Handler&gt; cadenaManejadores = new ArrayList&lt;&gt;(enlace.getHandlerChain());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cadenaManejadores.add(new ManejadorTokenSOAP(() -&gt; 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enlace.setHandlerChain(cadenaManejadores);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String login(String usuario, String contrasenia)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this.tokenSesion = puerto.login(usuario, contrasenia);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this.tokenSesion;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double convertirLongitud(double valor, String unidadInicial, String unidadFinal)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puerto.convertirLongitud(valor, unidadInicial,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double convertirMasa(double valor, String unidadInicial, String unidadFinal)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puerto.convertirMasa(valor, unidadInicial,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380" name="Google Shape;380;p47"/>
          <p:cNvGraphicFramePr/>
          <p:nvPr/>
        </p:nvGraphicFramePr>
        <p:xfrm>
          <a:off x="5684675" y="2041263"/>
          <a:ext cx="3000000" cy="3000000"/>
        </p:xfrm>
        <a:graphic>
          <a:graphicData uri="http://schemas.openxmlformats.org/drawingml/2006/table">
            <a:tbl>
              <a:tblPr>
                <a:noFill/>
                <a:tableStyleId>{24BBDE1E-296D-40B9-B01D-3F357474E97A}</a:tableStyleId>
              </a:tblPr>
              <a:tblGrid>
                <a:gridCol w="3699025"/>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public double convertirTemperatura(double valor, String unidadInicial, String unidadFinal)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puerto.convertirTemperatura(valor, unidadInicial,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String getTokenSesion()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String getEndpointActivo()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endpointActivo;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void cerrarSesion()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this.tokenSesion = null;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86" name="Google Shape;386;p48"/>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Se puede verificar que el cliente funciona de forma correcta, se levanta y tiene comunicación </a:t>
            </a:r>
            <a:endParaRPr b="1" sz="1400">
              <a:solidFill>
                <a:srgbClr val="17365D"/>
              </a:solidFill>
              <a:latin typeface="Calibri"/>
              <a:ea typeface="Calibri"/>
              <a:cs typeface="Calibri"/>
              <a:sym typeface="Calibri"/>
            </a:endParaRPr>
          </a:p>
          <a:p>
            <a:pPr indent="-298450" lvl="0" marL="457200" rtl="0" algn="l">
              <a:lnSpc>
                <a:spcPct val="150000"/>
              </a:lnSpc>
              <a:spcBef>
                <a:spcPts val="0"/>
              </a:spcBef>
              <a:spcAft>
                <a:spcPts val="0"/>
              </a:spcAft>
              <a:buClr>
                <a:schemeClr val="dk1"/>
              </a:buClr>
              <a:buSzPts val="1100"/>
              <a:buFont typeface="Calibri"/>
              <a:buChar char="∙"/>
            </a:pPr>
            <a:r>
              <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87" name="Google Shape;387;p4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388" name="Google Shape;388;p48"/>
          <p:cNvPicPr preferRelativeResize="0"/>
          <p:nvPr/>
        </p:nvPicPr>
        <p:blipFill>
          <a:blip r:embed="rId3">
            <a:alphaModFix/>
          </a:blip>
          <a:stretch>
            <a:fillRect/>
          </a:stretch>
        </p:blipFill>
        <p:spPr>
          <a:xfrm>
            <a:off x="2361875" y="2429475"/>
            <a:ext cx="6811376" cy="33151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94" name="Google Shape;394;p49"/>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395" name="Google Shape;395;p49"/>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fontScale="92500"/>
          </a:bodyPr>
          <a:lstStyle/>
          <a:p>
            <a:pPr indent="-320524" lvl="0" marL="457200" marR="0" rtl="0" algn="l">
              <a:lnSpc>
                <a:spcPct val="115000"/>
              </a:lnSpc>
              <a:spcBef>
                <a:spcPts val="0"/>
              </a:spcBef>
              <a:spcAft>
                <a:spcPts val="0"/>
              </a:spcAft>
              <a:buSzPct val="100064"/>
              <a:buFont typeface="Cambria"/>
              <a:buChar char="◼"/>
            </a:pPr>
            <a:r>
              <a:rPr lang="es-ES" sz="1564">
                <a:latin typeface="Cambria"/>
                <a:ea typeface="Cambria"/>
                <a:cs typeface="Cambria"/>
                <a:sym typeface="Cambria"/>
              </a:rPr>
              <a:t>Para este caso, para poder optimizar el tiempo se optó por usar el framework de MAUI el cual permite crear un proyecto central el cual después puede adaptarse a las distintas plataformas(web, mobile y Desktop)</a:t>
            </a:r>
            <a:endParaRPr sz="1564">
              <a:latin typeface="Cambria"/>
              <a:ea typeface="Cambria"/>
              <a:cs typeface="Cambria"/>
              <a:sym typeface="Cambria"/>
            </a:endParaRPr>
          </a:p>
          <a:p>
            <a:pPr indent="-320524" lvl="0" marL="457200" marR="0" rtl="0" algn="l">
              <a:lnSpc>
                <a:spcPct val="115000"/>
              </a:lnSpc>
              <a:spcBef>
                <a:spcPts val="0"/>
              </a:spcBef>
              <a:spcAft>
                <a:spcPts val="0"/>
              </a:spcAft>
              <a:buSzPct val="100064"/>
              <a:buFont typeface="Cambria"/>
              <a:buChar char="◼"/>
            </a:pPr>
            <a:r>
              <a:rPr lang="es-ES" sz="1564">
                <a:latin typeface="Cambria"/>
                <a:ea typeface="Cambria"/>
                <a:cs typeface="Cambria"/>
                <a:sym typeface="Cambria"/>
              </a:rPr>
              <a:t>Para empezar se debe crear el proyecto en visual studio, para ello se selecciona una solución en blanco.</a:t>
            </a:r>
            <a:endParaRPr sz="1564">
              <a:latin typeface="Cambria"/>
              <a:ea typeface="Cambria"/>
              <a:cs typeface="Cambria"/>
              <a:sym typeface="Cambria"/>
            </a:endParaRPr>
          </a:p>
        </p:txBody>
      </p:sp>
      <p:pic>
        <p:nvPicPr>
          <p:cNvPr id="396" name="Google Shape;396;p49"/>
          <p:cNvPicPr preferRelativeResize="0"/>
          <p:nvPr/>
        </p:nvPicPr>
        <p:blipFill>
          <a:blip r:embed="rId3">
            <a:alphaModFix/>
          </a:blip>
          <a:stretch>
            <a:fillRect/>
          </a:stretch>
        </p:blipFill>
        <p:spPr>
          <a:xfrm>
            <a:off x="2087175" y="3158725"/>
            <a:ext cx="5734050" cy="35909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02" name="Google Shape;402;p50"/>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03" name="Google Shape;403;p50"/>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27978" lvl="0" marL="457200" marR="0" rtl="0" algn="l">
              <a:lnSpc>
                <a:spcPct val="115000"/>
              </a:lnSpc>
              <a:spcBef>
                <a:spcPts val="0"/>
              </a:spcBef>
              <a:spcAft>
                <a:spcPts val="0"/>
              </a:spcAft>
              <a:buSzPts val="1565"/>
              <a:buFont typeface="Cambria"/>
              <a:buChar char="◼"/>
            </a:pPr>
            <a:r>
              <a:rPr lang="es-ES" sz="1564">
                <a:latin typeface="Cambria"/>
                <a:ea typeface="Cambria"/>
                <a:cs typeface="Cambria"/>
                <a:sym typeface="Cambria"/>
              </a:rPr>
              <a:t>Se debe asignar un nombre al proyecto y asignarle un directorio donde se va a guardar el mismo, y solo queda dar clic en crear</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Con la solución en blanco vamos a ir agregando los diferentes proyectos necesarios para todos los tipos de clientes, primero se debe agregar un nuevo proyecto. </a:t>
            </a:r>
            <a:endParaRPr sz="1564">
              <a:latin typeface="Cambria"/>
              <a:ea typeface="Cambria"/>
              <a:cs typeface="Cambria"/>
              <a:sym typeface="Cambria"/>
            </a:endParaRPr>
          </a:p>
        </p:txBody>
      </p:sp>
      <p:pic>
        <p:nvPicPr>
          <p:cNvPr id="404" name="Google Shape;404;p50"/>
          <p:cNvPicPr preferRelativeResize="0"/>
          <p:nvPr/>
        </p:nvPicPr>
        <p:blipFill>
          <a:blip r:embed="rId3">
            <a:alphaModFix/>
          </a:blip>
          <a:stretch>
            <a:fillRect/>
          </a:stretch>
        </p:blipFill>
        <p:spPr>
          <a:xfrm>
            <a:off x="226825" y="3803100"/>
            <a:ext cx="4002875" cy="2581000"/>
          </a:xfrm>
          <a:prstGeom prst="rect">
            <a:avLst/>
          </a:prstGeom>
          <a:noFill/>
          <a:ln>
            <a:noFill/>
          </a:ln>
        </p:spPr>
      </p:pic>
      <p:pic>
        <p:nvPicPr>
          <p:cNvPr id="405" name="Google Shape;405;p50"/>
          <p:cNvPicPr preferRelativeResize="0"/>
          <p:nvPr/>
        </p:nvPicPr>
        <p:blipFill>
          <a:blip r:embed="rId4">
            <a:alphaModFix/>
          </a:blip>
          <a:stretch>
            <a:fillRect/>
          </a:stretch>
        </p:blipFill>
        <p:spPr>
          <a:xfrm>
            <a:off x="4423175" y="4002275"/>
            <a:ext cx="4747325" cy="189407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1"/>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11" name="Google Shape;411;p51"/>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412" name="Google Shape;412;p51"/>
          <p:cNvPicPr preferRelativeResize="0"/>
          <p:nvPr/>
        </p:nvPicPr>
        <p:blipFill>
          <a:blip r:embed="rId3">
            <a:alphaModFix/>
          </a:blip>
          <a:stretch>
            <a:fillRect/>
          </a:stretch>
        </p:blipFill>
        <p:spPr>
          <a:xfrm>
            <a:off x="66975" y="3452938"/>
            <a:ext cx="4507325" cy="2874750"/>
          </a:xfrm>
          <a:prstGeom prst="rect">
            <a:avLst/>
          </a:prstGeom>
          <a:noFill/>
          <a:ln>
            <a:noFill/>
          </a:ln>
        </p:spPr>
      </p:pic>
      <p:pic>
        <p:nvPicPr>
          <p:cNvPr id="413" name="Google Shape;413;p51"/>
          <p:cNvPicPr preferRelativeResize="0"/>
          <p:nvPr/>
        </p:nvPicPr>
        <p:blipFill>
          <a:blip r:embed="rId4">
            <a:alphaModFix/>
          </a:blip>
          <a:stretch>
            <a:fillRect/>
          </a:stretch>
        </p:blipFill>
        <p:spPr>
          <a:xfrm>
            <a:off x="4772900" y="3452950"/>
            <a:ext cx="4460247" cy="2874725"/>
          </a:xfrm>
          <a:prstGeom prst="rect">
            <a:avLst/>
          </a:prstGeom>
          <a:noFill/>
          <a:ln>
            <a:noFill/>
          </a:ln>
        </p:spPr>
      </p:pic>
      <p:sp>
        <p:nvSpPr>
          <p:cNvPr id="414" name="Google Shape;414;p51"/>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Pero para este caso en la plantilla se debe seleccionar Aplicación web de Blazor </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A fin de poder identificar el proyecto este terminara con .web y su ubicacion sera en el directorio correspondiente a ese cliente</a:t>
            </a:r>
            <a:endParaRPr sz="1564">
              <a:latin typeface="Cambria"/>
              <a:ea typeface="Cambria"/>
              <a:cs typeface="Cambria"/>
              <a:sym typeface="Cambri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2"/>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20" name="Google Shape;420;p52"/>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21" name="Google Shape;421;p52"/>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De igual manera se usara .Net 10.0 como versión del framework, este proyecto generar 2 el .web que definimos y no .web.client.</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Para el caso de clientes mobile y desktop se va a crear un proyecto afín para estas plataformas, por lo que una vez más es necesario agregar un nuevo proyecto.</a:t>
            </a:r>
            <a:endParaRPr sz="1564">
              <a:latin typeface="Cambria"/>
              <a:ea typeface="Cambria"/>
              <a:cs typeface="Cambria"/>
              <a:sym typeface="Cambria"/>
            </a:endParaRPr>
          </a:p>
        </p:txBody>
      </p:sp>
      <p:pic>
        <p:nvPicPr>
          <p:cNvPr id="422" name="Google Shape;422;p52"/>
          <p:cNvPicPr preferRelativeResize="0"/>
          <p:nvPr/>
        </p:nvPicPr>
        <p:blipFill>
          <a:blip r:embed="rId3">
            <a:alphaModFix/>
          </a:blip>
          <a:stretch>
            <a:fillRect/>
          </a:stretch>
        </p:blipFill>
        <p:spPr>
          <a:xfrm>
            <a:off x="256575" y="3246650"/>
            <a:ext cx="3705225" cy="3581400"/>
          </a:xfrm>
          <a:prstGeom prst="rect">
            <a:avLst/>
          </a:prstGeom>
          <a:noFill/>
          <a:ln>
            <a:noFill/>
          </a:ln>
        </p:spPr>
      </p:pic>
      <p:pic>
        <p:nvPicPr>
          <p:cNvPr id="423" name="Google Shape;423;p52"/>
          <p:cNvPicPr preferRelativeResize="0"/>
          <p:nvPr/>
        </p:nvPicPr>
        <p:blipFill>
          <a:blip r:embed="rId4">
            <a:alphaModFix/>
          </a:blip>
          <a:stretch>
            <a:fillRect/>
          </a:stretch>
        </p:blipFill>
        <p:spPr>
          <a:xfrm>
            <a:off x="4326425" y="3793250"/>
            <a:ext cx="4625675" cy="18455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3"/>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29" name="Google Shape;429;p53"/>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30" name="Google Shape;430;p53"/>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la plantilla para este caso es la de aplicación de .NET MAUI Blazor Hybrid la cual permite fusionar la plataforma desktop y mobile.</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A esta plantilla colocaremos un nombre que finalice .Maui</a:t>
            </a:r>
            <a:endParaRPr sz="1564">
              <a:latin typeface="Cambria"/>
              <a:ea typeface="Cambria"/>
              <a:cs typeface="Cambria"/>
              <a:sym typeface="Cambria"/>
            </a:endParaRPr>
          </a:p>
        </p:txBody>
      </p:sp>
      <p:pic>
        <p:nvPicPr>
          <p:cNvPr id="431" name="Google Shape;431;p53"/>
          <p:cNvPicPr preferRelativeResize="0"/>
          <p:nvPr/>
        </p:nvPicPr>
        <p:blipFill>
          <a:blip r:embed="rId3">
            <a:alphaModFix/>
          </a:blip>
          <a:stretch>
            <a:fillRect/>
          </a:stretch>
        </p:blipFill>
        <p:spPr>
          <a:xfrm>
            <a:off x="107750" y="3471275"/>
            <a:ext cx="4476750" cy="2895600"/>
          </a:xfrm>
          <a:prstGeom prst="rect">
            <a:avLst/>
          </a:prstGeom>
          <a:noFill/>
          <a:ln>
            <a:noFill/>
          </a:ln>
        </p:spPr>
      </p:pic>
      <p:pic>
        <p:nvPicPr>
          <p:cNvPr id="432" name="Google Shape;432;p53"/>
          <p:cNvPicPr preferRelativeResize="0"/>
          <p:nvPr/>
        </p:nvPicPr>
        <p:blipFill>
          <a:blip r:embed="rId4">
            <a:alphaModFix/>
          </a:blip>
          <a:stretch>
            <a:fillRect/>
          </a:stretch>
        </p:blipFill>
        <p:spPr>
          <a:xfrm>
            <a:off x="4823813" y="3471275"/>
            <a:ext cx="4253601" cy="27053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4"/>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38" name="Google Shape;438;p54"/>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39" name="Google Shape;439;p54"/>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Se debe referenciar el proyecto central a los proyectos que se acaban de crear esto tanto para el proyecto web como para que es para desktop y mobile.</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Con esto se debe buscar el proyecto shared(proyecto central) para que los proyectos adyacentes sepan a donde apuntar</a:t>
            </a:r>
            <a:endParaRPr sz="1564">
              <a:latin typeface="Cambria"/>
              <a:ea typeface="Cambria"/>
              <a:cs typeface="Cambria"/>
              <a:sym typeface="Cambria"/>
            </a:endParaRPr>
          </a:p>
        </p:txBody>
      </p:sp>
      <p:pic>
        <p:nvPicPr>
          <p:cNvPr id="440" name="Google Shape;440;p54"/>
          <p:cNvPicPr preferRelativeResize="0"/>
          <p:nvPr/>
        </p:nvPicPr>
        <p:blipFill>
          <a:blip r:embed="rId3">
            <a:alphaModFix/>
          </a:blip>
          <a:stretch>
            <a:fillRect/>
          </a:stretch>
        </p:blipFill>
        <p:spPr>
          <a:xfrm>
            <a:off x="167300" y="3910850"/>
            <a:ext cx="4107051" cy="1826175"/>
          </a:xfrm>
          <a:prstGeom prst="rect">
            <a:avLst/>
          </a:prstGeom>
          <a:noFill/>
          <a:ln>
            <a:noFill/>
          </a:ln>
        </p:spPr>
      </p:pic>
      <p:pic>
        <p:nvPicPr>
          <p:cNvPr id="441" name="Google Shape;441;p54"/>
          <p:cNvPicPr preferRelativeResize="0"/>
          <p:nvPr/>
        </p:nvPicPr>
        <p:blipFill>
          <a:blip r:embed="rId4">
            <a:alphaModFix/>
          </a:blip>
          <a:stretch>
            <a:fillRect/>
          </a:stretch>
        </p:blipFill>
        <p:spPr>
          <a:xfrm>
            <a:off x="4429438" y="3317241"/>
            <a:ext cx="4732200" cy="333298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5"/>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47" name="Google Shape;447;p55"/>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48" name="Google Shape;448;p55"/>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rtl="0" algn="l">
              <a:lnSpc>
                <a:spcPct val="115000"/>
              </a:lnSpc>
              <a:spcBef>
                <a:spcPts val="0"/>
              </a:spcBef>
              <a:spcAft>
                <a:spcPts val="0"/>
              </a:spcAft>
              <a:buSzPts val="1564"/>
              <a:buFont typeface="Cambria"/>
              <a:buChar char="◼"/>
            </a:pPr>
            <a:r>
              <a:rPr lang="es-ES" sz="1564">
                <a:latin typeface="Cambria"/>
                <a:ea typeface="Cambria"/>
                <a:cs typeface="Cambria"/>
                <a:sym typeface="Cambria"/>
              </a:rPr>
              <a:t>Lo que sigue es ir creando los diferentes paquetes que se van a usar.</a:t>
            </a:r>
            <a:endParaRPr sz="1564">
              <a:latin typeface="Cambria"/>
              <a:ea typeface="Cambria"/>
              <a:cs typeface="Cambria"/>
              <a:sym typeface="Cambria"/>
            </a:endParaRPr>
          </a:p>
        </p:txBody>
      </p:sp>
      <p:pic>
        <p:nvPicPr>
          <p:cNvPr id="449" name="Google Shape;449;p55"/>
          <p:cNvPicPr preferRelativeResize="0"/>
          <p:nvPr/>
        </p:nvPicPr>
        <p:blipFill>
          <a:blip r:embed="rId3">
            <a:alphaModFix/>
          </a:blip>
          <a:stretch>
            <a:fillRect/>
          </a:stretch>
        </p:blipFill>
        <p:spPr>
          <a:xfrm>
            <a:off x="1164400" y="2905725"/>
            <a:ext cx="5611251" cy="37677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55" name="Google Shape;455;p56"/>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56" name="Google Shape;456;p5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57" name="Google Shape;457;p56"/>
          <p:cNvGraphicFramePr/>
          <p:nvPr/>
        </p:nvGraphicFramePr>
        <p:xfrm>
          <a:off x="2311225" y="2755638"/>
          <a:ext cx="3000000" cy="3000000"/>
        </p:xfrm>
        <a:graphic>
          <a:graphicData uri="http://schemas.openxmlformats.org/drawingml/2006/table">
            <a:tbl>
              <a:tblPr>
                <a:noFill/>
                <a:tableStyleId>{24BBDE1E-296D-40B9-B01D-3F357474E97A}</a:tableStyleId>
              </a:tblPr>
              <a:tblGrid>
                <a:gridCol w="5903875"/>
              </a:tblGrid>
              <a:tr h="25137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ec.edu.monster.Modelos;</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public static class ConstantesRed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"192.168.18.9";</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"localhost";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UrlJavaSoap = $"http://{IP_WEB_SERVICES}:8080/04.SERVIDOR/WSConversorUnidades";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UrlDotNetSoap = $"http://{IP_WEB_SERVICES}:50774/WSConversorUnidades.svc";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UrlDotNetRest = $"http://{IP_WEB_SERVICES}:52100/api";</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UrlJavaRest = $"http://{IP_WEB_SERVICES}:8080/04.SERVIDOR/api";</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63" name="Google Shape;463;p57"/>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64" name="Google Shape;464;p5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65" name="Google Shape;465;p57"/>
          <p:cNvGraphicFramePr/>
          <p:nvPr/>
        </p:nvGraphicFramePr>
        <p:xfrm>
          <a:off x="2311225" y="2755638"/>
          <a:ext cx="3000000" cy="3000000"/>
        </p:xfrm>
        <a:graphic>
          <a:graphicData uri="http://schemas.openxmlformats.org/drawingml/2006/table">
            <a:tbl>
              <a:tblPr>
                <a:noFill/>
                <a:tableStyleId>{24BBDE1E-296D-40B9-B01D-3F357474E97A}</a:tableStyleId>
              </a:tblPr>
              <a:tblGrid>
                <a:gridCol w="5903875"/>
              </a:tblGrid>
              <a:tr h="2513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namespace ec.edu.monster.Servicios;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public class FabricaEstrategiaBackend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readonly IEnumerable&lt;IAdaptadorConversion&gt; _adaptadoresConversion;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readonly IEnumerable&lt;IAdaptadorAutenticacion&gt; _adaptadoresAutenticacion;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FabricaEstrategiaBackend(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IEnumerable&lt;IAdaptadorConversion&gt; adaptadoresConversion,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IEnumerable&lt;IAdaptadorAutenticacion&gt; adaptadoresAutenticacion)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_adaptadoresConversion = adaptadoresConversion;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_adaptadoresAutenticacion = adaptadoresAutenticacion;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IAdaptadorConversion ObtenerAdaptadorConversion(TipoBackend tipo)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_adaptadoresConversion.FirstOrDefault(a =&gt; a.Tipo ==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throw new NotSupportedException($"Adaptador de conversión para {tipo} no implementado.");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IAdaptadorAutenticacion ObtenerAdaptadorAutenticacion(TipoBackend tipo)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_adaptadoresAutenticacion.FirstOrDefault(a =&gt; a.Tipo ==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throw new NotSupportedException($"Adaptador de autenticación para {tipo} no implementado.");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71" name="Google Shape;471;p58"/>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72" name="Google Shape;472;p5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73" name="Google Shape;473;p58"/>
          <p:cNvGraphicFramePr/>
          <p:nvPr/>
        </p:nvGraphicFramePr>
        <p:xfrm>
          <a:off x="2385650" y="2264513"/>
          <a:ext cx="3000000" cy="3000000"/>
        </p:xfrm>
        <a:graphic>
          <a:graphicData uri="http://schemas.openxmlformats.org/drawingml/2006/table">
            <a:tbl>
              <a:tblPr>
                <a:noFill/>
                <a:tableStyleId>{24BBDE1E-296D-40B9-B01D-3F357474E97A}</a:tableStyleId>
              </a:tblPr>
              <a:tblGrid>
                <a:gridCol w="5903875"/>
              </a:tblGrid>
              <a:tr h="2513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@page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@inject ec.edu.monster.Servicios.EstadoAplicacion EstadoApp</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@inject ec.edu.monster.Servicios.FabricaEstrategiaBackend Fabrica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@inject NavigationManager NavManager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&lt;div class="espe-background"&gt;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class="espe-card" style="width: 800px;"&gt;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class="row g-0"&gt;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class="col-md-6" style="background-color: #f8f9fa;"&gt;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&lt;img src="/sullivan_computer.jpg" class="img-fluid" style="height: 100%; object-fit: cover;" alt="Imagen Login"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class="col-md-6 p-5 d-flex flex-column justify-content-center"&gt;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class="text-center mb-4"&gt;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&lt;h4 style="color: #0F4770;"&gt;Sistema de Conversión de Unidades&lt;/h4&gt;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&lt;small class="text-secondary"&gt;GRUPO #5&lt;/small&gt;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79" name="Google Shape;479;p59"/>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80" name="Google Shape;480;p5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81" name="Google Shape;481;p59"/>
          <p:cNvGraphicFramePr/>
          <p:nvPr/>
        </p:nvGraphicFramePr>
        <p:xfrm>
          <a:off x="2445175" y="2026388"/>
          <a:ext cx="3000000" cy="3000000"/>
        </p:xfrm>
        <a:graphic>
          <a:graphicData uri="http://schemas.openxmlformats.org/drawingml/2006/table">
            <a:tbl>
              <a:tblPr>
                <a:noFill/>
                <a:tableStyleId>{24BBDE1E-296D-40B9-B01D-3F357474E97A}</a:tableStyleId>
              </a:tblPr>
              <a:tblGrid>
                <a:gridCol w="5903875"/>
              </a:tblGrid>
              <a:tr h="2513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&lt;div class="mb-4 p-3 rounded" style="background-color: #e0f2f1; border-left: 4px solid #0F4770;"&gt;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&lt;label class="fw-bold text-secondary mb-1" style="font-size: 0.85rem;"&gt;ENTORNO DE CONEXIÓN&lt;/label&gt;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&lt;select class="form-select espe-form-control bg-transparent border-0 border-bottom fw-bold"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style="color: #0F4770; box-shadow: none;"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@bind:get="EstadoApp.BackendActual"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@bind:set="(value) =&gt; EstadoApp.EstablecerBackend(value)"&gt;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@foreach (var backend in Enum.GetValues&lt;ec.edu.monster.Modelos.TipoBackend&gt;())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&lt;option value="@backend"&gt;@backend.ToString()&lt;/option&gt;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&lt;/select&gt;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class="mb-3"&gt;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&lt;label&gt;Usuario&lt;/label&gt;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&lt;input type="text" class="form-control espe-form-control" @bind="usuario"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class="mb-4"&gt;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&lt;label&gt;Contraseña&lt;/label&gt;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&lt;input type="password" class="form-control espe-form-control" @bind="contrasenia"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&lt;button class="btn espe-btn-primary w-100" @onclick="HacerLogin"&gt;Iniciar sesión&lt;/button&gt;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class="alert alert-success mt-3 p-2 text-center" style="font-size: 0.8em; overflow-wrap: break-word;"&gt;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Token obtenido correctamente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87" name="Google Shape;487;p60"/>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88" name="Google Shape;488;p6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89" name="Google Shape;489;p60"/>
          <p:cNvGraphicFramePr/>
          <p:nvPr/>
        </p:nvGraphicFramePr>
        <p:xfrm>
          <a:off x="2332838" y="1771213"/>
          <a:ext cx="3000000" cy="3000000"/>
        </p:xfrm>
        <a:graphic>
          <a:graphicData uri="http://schemas.openxmlformats.org/drawingml/2006/table">
            <a:tbl>
              <a:tblPr>
                <a:noFill/>
                <a:tableStyleId>{24BBDE1E-296D-40B9-B01D-3F357474E97A}</a:tableStyleId>
              </a:tblPr>
              <a:tblGrid>
                <a:gridCol w="6484300"/>
              </a:tblGrid>
              <a:tr h="4509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@if (!string.IsNullOrEmpty(mensajeErrorLogin))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class="alert alert-danger mt-3 p-2 text-center" style="font-size: 0.8em;"&gt;@mensajeErrorLogin&lt;/div&gt;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class="text-center mt-4"&gt;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&lt;small class="text-info" style="font-size: 0.8rem;"&gt;Servidor web listo para conexiones.&lt;/small&gt;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@code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string usuario = "Monster";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string contrasenia = "Monster9";</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string mensajeErrorLogin =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async Task HacerLogin()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mensajeErrorLogin =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try</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patrón Strategy:</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var adaptadorAuth = Fabrica.ObtenerAdaptadorAutenticacion(EstadoApp.BackendActual);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EstadoApp.TokenActual = await adaptadorAuth.IniciarSesionAsync(usuario, contrasenia);</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NavManager.NavigateTo("/conversor");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catch (Exception ex)</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mensajeErrorLogin = ex.Message;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95" name="Google Shape;495;p61"/>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96" name="Google Shape;496;p6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97" name="Google Shape;497;p61"/>
          <p:cNvGraphicFramePr/>
          <p:nvPr/>
        </p:nvGraphicFramePr>
        <p:xfrm>
          <a:off x="2332825" y="2024213"/>
          <a:ext cx="3000000" cy="3000000"/>
        </p:xfrm>
        <a:graphic>
          <a:graphicData uri="http://schemas.openxmlformats.org/drawingml/2006/table">
            <a:tbl>
              <a:tblPr>
                <a:noFill/>
                <a:tableStyleId>{24BBDE1E-296D-40B9-B01D-3F357474E97A}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System.Text;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System.Xml.Linq;</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ec.edu.monster.Adaptadores;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public class AdaptadorAutenticacionJavaSoap : IAdaptadorAutenticacion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TipoBackend Tipo =&gt; TipoBackend.JavaSoap;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private readonly HttpClient _httpClient;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AdaptadorAutenticacionJavaSoap(HttpClient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_httpClient =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async Task&lt;string&gt; IniciarSesionAsync(string usuario, string contrasenia)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03" name="Google Shape;503;p62"/>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04" name="Google Shape;504;p6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05" name="Google Shape;505;p62"/>
          <p:cNvGraphicFramePr/>
          <p:nvPr/>
        </p:nvGraphicFramePr>
        <p:xfrm>
          <a:off x="2332825" y="2024213"/>
          <a:ext cx="3000000" cy="3000000"/>
        </p:xfrm>
        <a:graphic>
          <a:graphicData uri="http://schemas.openxmlformats.org/drawingml/2006/table">
            <a:tbl>
              <a:tblPr>
                <a:noFill/>
                <a:tableStyleId>{24BBDE1E-296D-40B9-B01D-3F357474E97A}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1. Construir el sobre SOAP (Envelope)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Nota: El namespace "http://ws.monster.edu.ec/" es el que Java genera por defecto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&lt;ws:login&gt;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&lt;usuario&gt;{usuario}&lt;/usuario&gt;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&lt;contrasenia&gt;{contrasenia}&lt;/contrasenia&gt;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&lt;/ws:login&gt;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content = new StringContent(soapXml, Encoding.UTF8, "text/xml");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2. Enviar la petición a Payara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_httpClient.PostAsync(ConstantesRed.UrlJavaSoap, content);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HTTP: {response.StatusCode}");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3. Leer e interpretar la respuesta 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 = 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11" name="Google Shape;511;p63"/>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12" name="Google Shape;512;p6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13" name="Google Shape;513;p63"/>
          <p:cNvGraphicFramePr/>
          <p:nvPr/>
        </p:nvGraphicFramePr>
        <p:xfrm>
          <a:off x="2332825" y="2024213"/>
          <a:ext cx="3000000" cy="3000000"/>
        </p:xfrm>
        <a:graphic>
          <a:graphicData uri="http://schemas.openxmlformats.org/drawingml/2006/table">
            <a:tbl>
              <a:tblPr>
                <a:noFill/>
                <a:tableStyleId>{24BBDE1E-296D-40B9-B01D-3F357474E97A}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Buscamos la etiqueta &lt;return&gt; que contiene el token (comportamiento estándar de JAX-WS)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tokenElement = doc.Descendants().FirstOrDefault(x =&gt; x.Name.LocalName == "return");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(tokenElement == null)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Exception("No se encontró el token en la respuesta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tokenElement.Value;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async Task&lt;string&gt; CambiarContraseniaAsync(string contraseniaActual, string contraseniaNueva, string token)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Construimos el XML respetando los @WebParam de tu Java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&lt;ws:cambiarContrasenia&gt;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&lt;contraseniaActual&gt;{contraseniaActual}&lt;/contraseniaActual&gt;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&lt;contraseniaNueva&gt;{contraseniaNueva}&lt;/contraseniaNueva&gt;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&lt;/ws:cambiarContrasenia&gt;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request = new HttpRequestMessage(HttpMethod.Post, ConstantesRed.UrlJavaSoap)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Content = new StringContent(soapXml, System.Text.Encoding.UTF8, "text/xml")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19" name="Google Shape;519;p6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20" name="Google Shape;520;p6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21" name="Google Shape;521;p64"/>
          <p:cNvGraphicFramePr/>
          <p:nvPr/>
        </p:nvGraphicFramePr>
        <p:xfrm>
          <a:off x="2332825" y="2024213"/>
          <a:ext cx="3000000" cy="3000000"/>
        </p:xfrm>
        <a:graphic>
          <a:graphicData uri="http://schemas.openxmlformats.org/drawingml/2006/table">
            <a:tbl>
              <a:tblPr>
                <a:noFill/>
                <a:tableStyleId>{24BBDE1E-296D-40B9-B01D-3F357474E97A}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request.Headers.ExpectContinue = false;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request.Headers.Add("SOAPAction",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_httpClient.SendAsync(request);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docFault = System.Xml.Linq.XDocument.Parse(responseXml);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faultString = docFault.Descendants().FirstOrDefault(x =&gt; x.Name.LocalName == "faultstring")?.Value;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{faultString ?? "No se pudo cambiar la contraseña"}");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 = System.Xml.Linq.XDocument.Parse(responseXml);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resultElement = doc.Descendants().FirstOrDefault(x =&gt; x.Name.LocalName == "return");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resultElement?.Value ?? "Contraseña actualizada correctamente";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27" name="Google Shape;527;p6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28" name="Google Shape;528;p6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29" name="Google Shape;529;p65"/>
          <p:cNvGraphicFramePr/>
          <p:nvPr/>
        </p:nvGraphicFramePr>
        <p:xfrm>
          <a:off x="2332825" y="2024213"/>
          <a:ext cx="3000000" cy="3000000"/>
        </p:xfrm>
        <a:graphic>
          <a:graphicData uri="http://schemas.openxmlformats.org/drawingml/2006/table">
            <a:tbl>
              <a:tblPr>
                <a:noFill/>
                <a:tableStyleId>{24BBDE1E-296D-40B9-B01D-3F357474E97A}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System.Globalization;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System.Text;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System.Xml.Linq;</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ec.edu.monster.Adaptadores;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public class AdaptadorConversionJavaSoap : IAdaptadorConversion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TipoBackend Tipo =&gt; TipoBackend.JavaSoap;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private readonly HttpClient _httpClient;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AdaptadorConversionJavaSoap(HttpClient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_httpClient =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async Task&lt;double&gt; ConvertirAsync(PeticionConversion peticion, string token)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Determinamos qué método llamar en el Web Service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metodoWs = peticion.TipoConversion switch</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"Masa" =&gt; "convertirMasa",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"Temperatura" =&gt; "convertirTemperatura",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_ =&gt; "convertirLongitud"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35" name="Google Shape;535;p66"/>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36" name="Google Shape;536;p6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37" name="Google Shape;537;p66"/>
          <p:cNvGraphicFramePr/>
          <p:nvPr/>
        </p:nvGraphicFramePr>
        <p:xfrm>
          <a:off x="2332825" y="2024213"/>
          <a:ext cx="3000000" cy="3000000"/>
        </p:xfrm>
        <a:graphic>
          <a:graphicData uri="http://schemas.openxmlformats.org/drawingml/2006/table">
            <a:tbl>
              <a:tblPr>
                <a:noFill/>
                <a:tableStyleId>{24BBDE1E-296D-40B9-B01D-3F357474E97A}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string valorFormateado = peticion.Valor.ToString(CultureInfo.InvariantCulture);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1. Construir el sobre SOAP incluyendo el Token en el Header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&lt;ws:token&gt;{token}&lt;/ws:token&gt;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&lt;ws:{metodoWs}&gt;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&lt;valor&gt;{valorFormateado}&lt;/valor&gt;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&lt;unidadInicial&gt;{peticion.UnidadOrigen}&lt;/unidadInicial&gt;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&lt;unidadFinal&gt;{peticion.UnidadDestino}&lt;/unidadFinal&gt;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&lt;/ws:{metodoWs}&gt;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content = new StringContent(soapXml, Encoding.UTF8, "text/xml");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2. Enviar la petición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_httpClient.PostAsync(ConstantesRed.UrlJavaSoap, content);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Si el token es inválido o hay un error, Java SOAP suele devolver HTTP 500 con un &lt;soapenv:Fault&gt;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43" name="Google Shape;543;p67"/>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44" name="Google Shape;544;p6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45" name="Google Shape;545;p67"/>
          <p:cNvGraphicFramePr/>
          <p:nvPr/>
        </p:nvGraphicFramePr>
        <p:xfrm>
          <a:off x="2332825" y="2024213"/>
          <a:ext cx="3000000" cy="3000000"/>
        </p:xfrm>
        <a:graphic>
          <a:graphicData uri="http://schemas.openxmlformats.org/drawingml/2006/table">
            <a:tbl>
              <a:tblPr>
                <a:noFill/>
                <a:tableStyleId>{24BBDE1E-296D-40B9-B01D-3F357474E97A}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docFault = 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faultString = docFault.Descendants().FirstOrDefault(x =&gt; x.Name.LocalName == "faultstring")?.Value;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del servidor SOAP: {faultString ?? response.StatusCode.ToString()}");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3. Extraer el resultado double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 = 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resultElement = doc.Descendants().FirstOrDefault(x =&gt; x.Name.LocalName == "return");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(resultElement != null &amp;&amp; double.TryParse(resultElement.Value, NumberStyles.Any, CultureInfo.InvariantCulture, out double resultado))</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resultado;</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Exception("No se pudo parsear el resultado matemático del 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51" name="Google Shape;551;p68"/>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52" name="Google Shape;552;p68"/>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33753" lvl="0" marL="457200" rtl="0" algn="just">
              <a:lnSpc>
                <a:spcPct val="107000"/>
              </a:lnSpc>
              <a:spcBef>
                <a:spcPts val="0"/>
              </a:spcBef>
              <a:spcAft>
                <a:spcPts val="0"/>
              </a:spcAft>
              <a:buSzPts val="1656"/>
              <a:buChar char="●"/>
            </a:pPr>
            <a:r>
              <a:rPr lang="es-ES" sz="1564">
                <a:latin typeface="Cambria"/>
                <a:ea typeface="Cambria"/>
                <a:cs typeface="Cambria"/>
                <a:sym typeface="Cambria"/>
              </a:rPr>
              <a:t>Para el cliente desktop se debe crear la instancia que llame al codigo que esta en el proyecto .shared, por lo que el codigo se ve asi, es el mismo que el de movil, sol cambiará la adaptación de la plataforma que se llame</a:t>
            </a:r>
            <a:endParaRPr>
              <a:latin typeface="Cambria"/>
              <a:ea typeface="Cambria"/>
              <a:cs typeface="Cambria"/>
              <a:sym typeface="Cambria"/>
            </a:endParaRPr>
          </a:p>
        </p:txBody>
      </p:sp>
      <p:sp>
        <p:nvSpPr>
          <p:cNvPr id="553" name="Google Shape;553;p68"/>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54" name="Google Shape;554;p68"/>
          <p:cNvGraphicFramePr/>
          <p:nvPr/>
        </p:nvGraphicFramePr>
        <p:xfrm>
          <a:off x="2332838" y="3073863"/>
          <a:ext cx="3000000" cy="3000000"/>
        </p:xfrm>
        <a:graphic>
          <a:graphicData uri="http://schemas.openxmlformats.org/drawingml/2006/table">
            <a:tbl>
              <a:tblPr>
                <a:noFill/>
                <a:tableStyleId>{24BBDE1E-296D-40B9-B01D-3F357474E97A}</a:tableStyleId>
              </a:tblPr>
              <a:tblGrid>
                <a:gridCol w="6484300"/>
              </a:tblGrid>
              <a:tr h="3453000">
                <a:tc>
                  <a:txBody>
                    <a:bodyPr/>
                    <a:lstStyle/>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555" name="Google Shape;555;p68"/>
          <p:cNvSpPr txBox="1"/>
          <p:nvPr/>
        </p:nvSpPr>
        <p:spPr>
          <a:xfrm>
            <a:off x="122575" y="1715850"/>
            <a:ext cx="7232400" cy="758100"/>
          </a:xfrm>
          <a:prstGeom prst="rect">
            <a:avLst/>
          </a:prstGeom>
          <a:noFill/>
          <a:ln>
            <a:noFill/>
          </a:ln>
        </p:spPr>
        <p:txBody>
          <a:bodyPr anchorCtr="0" anchor="t" bIns="91425" lIns="91425" spcFirstLastPara="1" rIns="91425" wrap="square" tIns="91425">
            <a:spAutoFit/>
          </a:bodyPr>
          <a:lstStyle/>
          <a:p>
            <a:pPr indent="0" lvl="0" marL="0" rtl="0" algn="just">
              <a:lnSpc>
                <a:spcPct val="107000"/>
              </a:lnSpc>
              <a:spcBef>
                <a:spcPts val="0"/>
              </a:spcBef>
              <a:spcAft>
                <a:spcPts val="0"/>
              </a:spcAft>
              <a:buNone/>
            </a:pPr>
            <a:r>
              <a:rPr b="1" lang="es-ES" sz="1800">
                <a:solidFill>
                  <a:schemeClr val="dk2"/>
                </a:solidFill>
                <a:latin typeface="Cambria"/>
                <a:ea typeface="Cambria"/>
                <a:cs typeface="Cambria"/>
                <a:sym typeface="Cambria"/>
              </a:rPr>
              <a:t>1.6 	CREACIÓN DEL PROYECTO – CLIENTE ESCRITORIO</a:t>
            </a:r>
            <a:br>
              <a:rPr b="1" lang="es-ES" sz="1800">
                <a:solidFill>
                  <a:schemeClr val="dk2"/>
                </a:solidFill>
                <a:latin typeface="Cambria"/>
                <a:ea typeface="Cambria"/>
                <a:cs typeface="Cambria"/>
                <a:sym typeface="Cambria"/>
              </a:rPr>
            </a:br>
            <a:endParaRPr sz="1800">
              <a:solidFill>
                <a:schemeClr val="dk2"/>
              </a:solidFill>
              <a:latin typeface="Gill Sans"/>
              <a:ea typeface="Gill Sans"/>
              <a:cs typeface="Gill Sans"/>
              <a:sym typeface="Gill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61" name="Google Shape;561;p69"/>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62" name="Google Shape;562;p69"/>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63" name="Google Shape;563;p69"/>
          <p:cNvGraphicFramePr/>
          <p:nvPr/>
        </p:nvGraphicFramePr>
        <p:xfrm>
          <a:off x="2332838" y="2136238"/>
          <a:ext cx="3000000" cy="3000000"/>
        </p:xfrm>
        <a:graphic>
          <a:graphicData uri="http://schemas.openxmlformats.org/drawingml/2006/table">
            <a:tbl>
              <a:tblPr>
                <a:noFill/>
                <a:tableStyleId>{24BBDE1E-296D-40B9-B01D-3F357474E97A}</a:tableStyleId>
              </a:tblPr>
              <a:tblGrid>
                <a:gridCol w="6484300"/>
              </a:tblGrid>
              <a:tr h="4023900">
                <a:tc>
                  <a:txBody>
                    <a:bodyPr/>
                    <a:lstStyle/>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2. SERVICIOS CORE</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69" name="Google Shape;569;p70"/>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70" name="Google Shape;570;p70"/>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71" name="Google Shape;571;p70"/>
          <p:cNvGraphicFramePr/>
          <p:nvPr/>
        </p:nvGraphicFramePr>
        <p:xfrm>
          <a:off x="2332838" y="2136238"/>
          <a:ext cx="3000000" cy="3000000"/>
        </p:xfrm>
        <a:graphic>
          <a:graphicData uri="http://schemas.openxmlformats.org/drawingml/2006/table">
            <a:tbl>
              <a:tblPr>
                <a:noFill/>
                <a:tableStyleId>{24BBDE1E-296D-40B9-B01D-3F357474E97A}</a:tableStyleId>
              </a:tblPr>
              <a:tblGrid>
                <a:gridCol w="6484300"/>
              </a:tblGrid>
              <a:tr h="4023900">
                <a:tc>
                  <a:txBody>
                    <a:bodyPr/>
                    <a:lstStyle/>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1100">
                        <a:solidFill>
                          <a:schemeClr val="dk1"/>
                        </a:solidFill>
                      </a:endParaRPr>
                    </a:p>
                  </a:txBody>
                  <a:tcPr marT="63500" marB="63500" marR="63500" marL="63500"/>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77" name="Google Shape;577;p71"/>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78" name="Google Shape;578;p71"/>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79" name="Google Shape;579;p71"/>
          <p:cNvGraphicFramePr/>
          <p:nvPr/>
        </p:nvGraphicFramePr>
        <p:xfrm>
          <a:off x="2332825" y="1914088"/>
          <a:ext cx="3000000" cy="3000000"/>
        </p:xfrm>
        <a:graphic>
          <a:graphicData uri="http://schemas.openxmlformats.org/drawingml/2006/table">
            <a:tbl>
              <a:tblPr>
                <a:noFill/>
                <a:tableStyleId>{24BBDE1E-296D-40B9-B01D-3F357474E97A}</a:tableStyleId>
              </a:tblPr>
              <a:tblGrid>
                <a:gridCol w="6484300"/>
              </a:tblGrid>
              <a:tr h="4023900">
                <a:tc>
                  <a:txBody>
                    <a:bodyPr/>
                    <a:lstStyle/>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a:t>
                      </a:r>
                      <a:endParaRPr sz="1100">
                        <a:solidFill>
                          <a:schemeClr val="dk1"/>
                        </a:solidFill>
                      </a:endParaRPr>
                    </a:p>
                  </a:txBody>
                  <a:tcPr marT="63500" marB="63500" marR="63500" marL="63500"/>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7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85" name="Google Shape;585;p72"/>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86" name="Google Shape;586;p72"/>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587" name="Google Shape;587;p72"/>
          <p:cNvPicPr preferRelativeResize="0"/>
          <p:nvPr/>
        </p:nvPicPr>
        <p:blipFill>
          <a:blip r:embed="rId3">
            <a:alphaModFix/>
          </a:blip>
          <a:stretch>
            <a:fillRect/>
          </a:stretch>
        </p:blipFill>
        <p:spPr>
          <a:xfrm>
            <a:off x="1644525" y="2763050"/>
            <a:ext cx="6134400" cy="36989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93" name="Google Shape;593;p73"/>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94" name="Google Shape;594;p73"/>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595" name="Google Shape;595;p73"/>
          <p:cNvPicPr preferRelativeResize="0"/>
          <p:nvPr/>
        </p:nvPicPr>
        <p:blipFill>
          <a:blip r:embed="rId3">
            <a:alphaModFix/>
          </a:blip>
          <a:stretch>
            <a:fillRect/>
          </a:stretch>
        </p:blipFill>
        <p:spPr>
          <a:xfrm>
            <a:off x="2057925" y="2610550"/>
            <a:ext cx="5734050" cy="34671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7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01" name="Google Shape;601;p74"/>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02" name="Google Shape;602;p74"/>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603" name="Google Shape;603;p74"/>
          <p:cNvPicPr preferRelativeResize="0"/>
          <p:nvPr/>
        </p:nvPicPr>
        <p:blipFill>
          <a:blip r:embed="rId3">
            <a:alphaModFix/>
          </a:blip>
          <a:stretch>
            <a:fillRect/>
          </a:stretch>
        </p:blipFill>
        <p:spPr>
          <a:xfrm>
            <a:off x="2176450" y="2610550"/>
            <a:ext cx="5734050" cy="34956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7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09" name="Google Shape;609;p75"/>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10" name="Google Shape;610;p75"/>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33753" lvl="0" marL="457200" rtl="0" algn="just">
              <a:lnSpc>
                <a:spcPct val="107000"/>
              </a:lnSpc>
              <a:spcBef>
                <a:spcPts val="0"/>
              </a:spcBef>
              <a:spcAft>
                <a:spcPts val="0"/>
              </a:spcAft>
              <a:buSzPts val="1656"/>
              <a:buChar char="●"/>
            </a:pPr>
            <a:r>
              <a:rPr lang="es-ES" sz="1564">
                <a:latin typeface="Cambria"/>
                <a:ea typeface="Cambria"/>
                <a:cs typeface="Cambria"/>
                <a:sym typeface="Cambria"/>
              </a:rPr>
              <a:t>Para el cliente web se debe crear la instancia que llame al codigo que esta en el proyecto .shared, por lo que el codigo se ve asi:</a:t>
            </a:r>
            <a:endParaRPr>
              <a:latin typeface="Cambria"/>
              <a:ea typeface="Cambria"/>
              <a:cs typeface="Cambria"/>
              <a:sym typeface="Cambria"/>
            </a:endParaRPr>
          </a:p>
        </p:txBody>
      </p:sp>
      <p:sp>
        <p:nvSpPr>
          <p:cNvPr id="611" name="Google Shape;611;p7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612" name="Google Shape;612;p75"/>
          <p:cNvGraphicFramePr/>
          <p:nvPr/>
        </p:nvGraphicFramePr>
        <p:xfrm>
          <a:off x="2332838" y="3073863"/>
          <a:ext cx="3000000" cy="3000000"/>
        </p:xfrm>
        <a:graphic>
          <a:graphicData uri="http://schemas.openxmlformats.org/drawingml/2006/table">
            <a:tbl>
              <a:tblPr>
                <a:noFill/>
                <a:tableStyleId>{24BBDE1E-296D-40B9-B01D-3F357474E97A}</a:tableStyleId>
              </a:tblPr>
              <a:tblGrid>
                <a:gridCol w="6484300"/>
              </a:tblGrid>
              <a:tr h="34530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SistemaConversorUI.Web.Client.Pages;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ec.edu.monster.Components;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var builder = WebApplication.CreateBuilder(args);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1. Servicios base de Blazor y Seguridad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builder.Services.AddRazorComponents()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.AddInteractiveServerComponents();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2. SERVICIOS CORE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builder.Services.AddScoped&lt;ec.edu.monster.Servicios.EstadoAplicacion&gt;();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builder.Services.AddScoped&lt;ec.edu.monster.Servicios.FabricaEstrategiaBackend&gt;();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18" name="Google Shape;618;p76"/>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19" name="Google Shape;619;p76"/>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620" name="Google Shape;620;p76"/>
          <p:cNvGraphicFramePr/>
          <p:nvPr/>
        </p:nvGraphicFramePr>
        <p:xfrm>
          <a:off x="2332838" y="2061838"/>
          <a:ext cx="3000000" cy="3000000"/>
        </p:xfrm>
        <a:graphic>
          <a:graphicData uri="http://schemas.openxmlformats.org/drawingml/2006/table">
            <a:tbl>
              <a:tblPr>
                <a:noFill/>
                <a:tableStyleId>{24BBDE1E-296D-40B9-B01D-3F357474E97A}</a:tableStyleId>
              </a:tblPr>
              <a:tblGrid>
                <a:gridCol w="6484300"/>
              </a:tblGrid>
              <a:tr h="4465025">
                <a:tc>
                  <a:txBody>
                    <a:bodyPr/>
                    <a:lstStyle/>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3. ADAPTADORES DE AUTENTICACIÓN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Los Mocks (Para los demás):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4. ADAPTADORES DE CONVERSIÓN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7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26" name="Google Shape;626;p77"/>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27" name="Google Shape;627;p77"/>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628" name="Google Shape;628;p77"/>
          <p:cNvGraphicFramePr/>
          <p:nvPr/>
        </p:nvGraphicFramePr>
        <p:xfrm>
          <a:off x="2332825" y="1795025"/>
          <a:ext cx="3000000" cy="3000000"/>
        </p:xfrm>
        <a:graphic>
          <a:graphicData uri="http://schemas.openxmlformats.org/drawingml/2006/table">
            <a:tbl>
              <a:tblPr>
                <a:noFill/>
                <a:tableStyleId>{24BBDE1E-296D-40B9-B01D-3F357474E97A}</a:tableStyleId>
              </a:tblPr>
              <a:tblGrid>
                <a:gridCol w="6484300"/>
              </a:tblGrid>
              <a:tr h="446502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Los Mocks: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FIN DE LOS SERVICIOS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var app = builder.Build();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Configure the HTTP request pipeline.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if (app.Environment.IsDevelopment())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app.UseWebAssemblyDebugging();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else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app.UseExceptionHandler("/Error", createScopeForErrors: true);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The default HSTS value is 30 days. You may want to change this for production scenarios, see https://aka.ms/aspnetcore-hsts.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app.UseHsts();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app.UseStatusCodePagesWithReExecute("/not-found", createScopeForStatusCodePages: true);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app.UseHttpsRedirection();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app.UseAntiforgery();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app.MapStaticAssets();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app.MapRazorComponents&lt;App&gt;()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.AddInteractiveServerRenderMode()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.AddAdditionalAssemblies(typeof(SistemaConversorUI.Web.Client._Imports).Assembly);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app.Run();</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34" name="Google Shape;634;p78"/>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35" name="Google Shape;635;p78"/>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636" name="Google Shape;636;p78"/>
          <p:cNvPicPr preferRelativeResize="0"/>
          <p:nvPr/>
        </p:nvPicPr>
        <p:blipFill>
          <a:blip r:embed="rId3">
            <a:alphaModFix/>
          </a:blip>
          <a:stretch>
            <a:fillRect/>
          </a:stretch>
        </p:blipFill>
        <p:spPr>
          <a:xfrm>
            <a:off x="1056275" y="2763050"/>
            <a:ext cx="7084526" cy="361287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7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42" name="Google Shape;642;p79"/>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43" name="Google Shape;643;p79"/>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Conversor</a:t>
            </a:r>
            <a:endParaRPr b="0" i="0" sz="2000" u="none" cap="none" strike="noStrike">
              <a:solidFill>
                <a:srgbClr val="3D3D3D"/>
              </a:solidFill>
              <a:latin typeface="Cambria"/>
              <a:ea typeface="Cambria"/>
              <a:cs typeface="Cambria"/>
              <a:sym typeface="Cambria"/>
            </a:endParaRPr>
          </a:p>
        </p:txBody>
      </p:sp>
      <p:pic>
        <p:nvPicPr>
          <p:cNvPr id="644" name="Google Shape;644;p79"/>
          <p:cNvPicPr preferRelativeResize="0"/>
          <p:nvPr/>
        </p:nvPicPr>
        <p:blipFill>
          <a:blip r:embed="rId3">
            <a:alphaModFix/>
          </a:blip>
          <a:stretch>
            <a:fillRect/>
          </a:stretch>
        </p:blipFill>
        <p:spPr>
          <a:xfrm>
            <a:off x="989425" y="2522350"/>
            <a:ext cx="7615825" cy="38964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8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50" name="Google Shape;650;p80"/>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51" name="Google Shape;651;p80"/>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Cambiar contraseña</a:t>
            </a:r>
            <a:endParaRPr b="0" i="0" sz="2000" u="none" cap="none" strike="noStrike">
              <a:solidFill>
                <a:srgbClr val="3D3D3D"/>
              </a:solidFill>
              <a:latin typeface="Cambria"/>
              <a:ea typeface="Cambria"/>
              <a:cs typeface="Cambria"/>
              <a:sym typeface="Cambria"/>
            </a:endParaRPr>
          </a:p>
        </p:txBody>
      </p:sp>
      <p:pic>
        <p:nvPicPr>
          <p:cNvPr id="652" name="Google Shape;652;p80"/>
          <p:cNvPicPr preferRelativeResize="0"/>
          <p:nvPr/>
        </p:nvPicPr>
        <p:blipFill>
          <a:blip r:embed="rId3">
            <a:alphaModFix/>
          </a:blip>
          <a:stretch>
            <a:fillRect/>
          </a:stretch>
        </p:blipFill>
        <p:spPr>
          <a:xfrm>
            <a:off x="1223950" y="2763050"/>
            <a:ext cx="7317725" cy="37318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graphicFrame>
        <p:nvGraphicFramePr>
          <p:cNvPr id="657" name="Google Shape;657;p81"/>
          <p:cNvGraphicFramePr/>
          <p:nvPr/>
        </p:nvGraphicFramePr>
        <p:xfrm>
          <a:off x="2332838" y="2865288"/>
          <a:ext cx="3000000" cy="3000000"/>
        </p:xfrm>
        <a:graphic>
          <a:graphicData uri="http://schemas.openxmlformats.org/drawingml/2006/table">
            <a:tbl>
              <a:tblPr>
                <a:noFill/>
                <a:tableStyleId>{24BBDE1E-296D-40B9-B01D-3F357474E97A}</a:tableStyleId>
              </a:tblPr>
              <a:tblGrid>
                <a:gridCol w="6484300"/>
              </a:tblGrid>
              <a:tr h="36615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658" name="Google Shape;658;p8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59" name="Google Shape;659;p8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60" name="Google Shape;660;p81"/>
          <p:cNvSpPr txBox="1"/>
          <p:nvPr/>
        </p:nvSpPr>
        <p:spPr>
          <a:xfrm>
            <a:off x="406975" y="1921878"/>
            <a:ext cx="8576700" cy="737400"/>
          </a:xfrm>
          <a:prstGeom prst="rect">
            <a:avLst/>
          </a:prstGeom>
          <a:noFill/>
          <a:ln>
            <a:noFill/>
          </a:ln>
        </p:spPr>
        <p:txBody>
          <a:bodyPr anchorCtr="0" anchor="ctr" bIns="45700" lIns="91425" spcFirstLastPara="1" rIns="91425" wrap="square" tIns="45700">
            <a:normAutofit/>
          </a:bodyPr>
          <a:lstStyle/>
          <a:p>
            <a:pPr indent="0" lvl="0" marL="0" marR="0" rtl="0" algn="just">
              <a:lnSpc>
                <a:spcPct val="107000"/>
              </a:lnSpc>
              <a:spcBef>
                <a:spcPts val="0"/>
              </a:spcBef>
              <a:spcAft>
                <a:spcPts val="0"/>
              </a:spcAft>
              <a:buClr>
                <a:srgbClr val="000000"/>
              </a:buClr>
              <a:buSzPts val="1800"/>
              <a:buFont typeface="Arial"/>
              <a:buNone/>
            </a:pPr>
            <a:r>
              <a:rPr b="1" lang="es-ES" sz="1800">
                <a:solidFill>
                  <a:srgbClr val="3D3D3D"/>
                </a:solidFill>
                <a:latin typeface="Cambria"/>
                <a:ea typeface="Cambria"/>
                <a:cs typeface="Cambria"/>
                <a:sym typeface="Cambria"/>
              </a:rPr>
              <a:t>1.6</a:t>
            </a:r>
            <a:r>
              <a:rPr b="1" i="0" lang="es-ES" sz="1800" u="none" cap="none" strike="noStrike">
                <a:solidFill>
                  <a:srgbClr val="3D3D3D"/>
                </a:solidFill>
                <a:latin typeface="Cambria"/>
                <a:ea typeface="Cambria"/>
                <a:cs typeface="Cambria"/>
                <a:sym typeface="Cambria"/>
              </a:rPr>
              <a:t> 	CREACIÓN DEL PROYECTO – CLIENTE MÓVIL</a:t>
            </a:r>
            <a:br>
              <a:rPr b="1" i="0" lang="es-ES" sz="1800" u="none" cap="none" strike="noStrike">
                <a:solidFill>
                  <a:srgbClr val="3D3D3D"/>
                </a:solidFill>
                <a:latin typeface="Cambria"/>
                <a:ea typeface="Cambria"/>
                <a:cs typeface="Cambria"/>
                <a:sym typeface="Cambria"/>
              </a:rPr>
            </a:br>
            <a:endParaRPr b="0" i="0" sz="1800" u="none" cap="none" strike="noStrike">
              <a:solidFill>
                <a:srgbClr val="3D3D3D"/>
              </a:solidFill>
              <a:latin typeface="Gill Sans"/>
              <a:ea typeface="Gill Sans"/>
              <a:cs typeface="Gill Sans"/>
              <a:sym typeface="Gill Sans"/>
            </a:endParaRPr>
          </a:p>
        </p:txBody>
      </p:sp>
      <p:sp>
        <p:nvSpPr>
          <p:cNvPr id="661" name="Google Shape;661;p81"/>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662" name="Google Shape;662;p81"/>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33753" lvl="0" marL="457200" rtl="0" algn="just">
              <a:lnSpc>
                <a:spcPct val="107000"/>
              </a:lnSpc>
              <a:spcBef>
                <a:spcPts val="0"/>
              </a:spcBef>
              <a:spcAft>
                <a:spcPts val="0"/>
              </a:spcAft>
              <a:buSzPts val="1656"/>
              <a:buChar char="●"/>
            </a:pPr>
            <a:r>
              <a:rPr lang="es-ES" sz="1564">
                <a:latin typeface="Cambria"/>
                <a:ea typeface="Cambria"/>
                <a:cs typeface="Cambria"/>
                <a:sym typeface="Cambria"/>
              </a:rPr>
              <a:t>Para el cliente móvil se debe crear la instancia que llame al codigo que esta en el proyecto .shared, por lo que el código se ve así:</a:t>
            </a:r>
            <a:endParaRPr>
              <a:latin typeface="Cambria"/>
              <a:ea typeface="Cambria"/>
              <a:cs typeface="Cambria"/>
              <a:sym typeface="Cambria"/>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graphicFrame>
        <p:nvGraphicFramePr>
          <p:cNvPr id="667" name="Google Shape;667;p82"/>
          <p:cNvGraphicFramePr/>
          <p:nvPr/>
        </p:nvGraphicFramePr>
        <p:xfrm>
          <a:off x="2332838" y="2061638"/>
          <a:ext cx="3000000" cy="3000000"/>
        </p:xfrm>
        <a:graphic>
          <a:graphicData uri="http://schemas.openxmlformats.org/drawingml/2006/table">
            <a:tbl>
              <a:tblPr>
                <a:noFill/>
                <a:tableStyleId>{24BBDE1E-296D-40B9-B01D-3F357474E97A}</a:tableStyleId>
              </a:tblPr>
              <a:tblGrid>
                <a:gridCol w="6484300"/>
              </a:tblGrid>
              <a:tr h="44930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2. SERVICIOS CORE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668" name="Google Shape;668;p8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69" name="Google Shape;669;p8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70" name="Google Shape;670;p82"/>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graphicFrame>
        <p:nvGraphicFramePr>
          <p:cNvPr id="675" name="Google Shape;675;p83"/>
          <p:cNvGraphicFramePr/>
          <p:nvPr/>
        </p:nvGraphicFramePr>
        <p:xfrm>
          <a:off x="2332825" y="1795025"/>
          <a:ext cx="3000000" cy="3000000"/>
        </p:xfrm>
        <a:graphic>
          <a:graphicData uri="http://schemas.openxmlformats.org/drawingml/2006/table">
            <a:tbl>
              <a:tblPr>
                <a:noFill/>
                <a:tableStyleId>{24BBDE1E-296D-40B9-B01D-3F357474E97A}</a:tableStyleId>
              </a:tblPr>
              <a:tblGrid>
                <a:gridCol w="6484300"/>
              </a:tblGrid>
              <a:tr h="44930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676" name="Google Shape;676;p8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77" name="Google Shape;677;p8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78" name="Google Shape;678;p83"/>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8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84" name="Google Shape;684;p84"/>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solidFill>
                <a:schemeClr val="dk1"/>
              </a:solidFill>
            </a:endParaRPr>
          </a:p>
        </p:txBody>
      </p:sp>
      <p:sp>
        <p:nvSpPr>
          <p:cNvPr id="685" name="Google Shape;685;p84"/>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686" name="Google Shape;686;p84"/>
          <p:cNvPicPr preferRelativeResize="0"/>
          <p:nvPr/>
        </p:nvPicPr>
        <p:blipFill>
          <a:blip r:embed="rId3">
            <a:alphaModFix/>
          </a:blip>
          <a:stretch>
            <a:fillRect/>
          </a:stretch>
        </p:blipFill>
        <p:spPr>
          <a:xfrm>
            <a:off x="3909950" y="1868350"/>
            <a:ext cx="2606575" cy="4780174"/>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8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92" name="Google Shape;692;p85"/>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solidFill>
                <a:schemeClr val="dk1"/>
              </a:solidFill>
            </a:endParaRPr>
          </a:p>
        </p:txBody>
      </p:sp>
      <p:sp>
        <p:nvSpPr>
          <p:cNvPr id="693" name="Google Shape;693;p85"/>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Conversor de unidades</a:t>
            </a:r>
            <a:endParaRPr b="0" i="0" sz="2000" u="none" cap="none" strike="noStrike">
              <a:solidFill>
                <a:srgbClr val="3D3D3D"/>
              </a:solidFill>
              <a:latin typeface="Cambria"/>
              <a:ea typeface="Cambria"/>
              <a:cs typeface="Cambria"/>
              <a:sym typeface="Cambria"/>
            </a:endParaRPr>
          </a:p>
        </p:txBody>
      </p:sp>
      <p:pic>
        <p:nvPicPr>
          <p:cNvPr id="694" name="Google Shape;694;p85"/>
          <p:cNvPicPr preferRelativeResize="0"/>
          <p:nvPr/>
        </p:nvPicPr>
        <p:blipFill>
          <a:blip r:embed="rId3">
            <a:alphaModFix/>
          </a:blip>
          <a:stretch>
            <a:fillRect/>
          </a:stretch>
        </p:blipFill>
        <p:spPr>
          <a:xfrm>
            <a:off x="5149825" y="1868350"/>
            <a:ext cx="2413600" cy="471667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8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700" name="Google Shape;700;p86"/>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solidFill>
                <a:schemeClr val="dk1"/>
              </a:solidFill>
            </a:endParaRPr>
          </a:p>
        </p:txBody>
      </p:sp>
      <p:sp>
        <p:nvSpPr>
          <p:cNvPr id="701" name="Google Shape;701;p86"/>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cambio de contraseña</a:t>
            </a:r>
            <a:endParaRPr b="0" i="0" sz="2000" u="none" cap="none" strike="noStrike">
              <a:solidFill>
                <a:srgbClr val="3D3D3D"/>
              </a:solidFill>
              <a:latin typeface="Cambria"/>
              <a:ea typeface="Cambria"/>
              <a:cs typeface="Cambria"/>
              <a:sym typeface="Cambria"/>
            </a:endParaRPr>
          </a:p>
        </p:txBody>
      </p:sp>
      <p:pic>
        <p:nvPicPr>
          <p:cNvPr id="702" name="Google Shape;702;p86"/>
          <p:cNvPicPr preferRelativeResize="0"/>
          <p:nvPr/>
        </p:nvPicPr>
        <p:blipFill>
          <a:blip r:embed="rId3">
            <a:alphaModFix/>
          </a:blip>
          <a:stretch>
            <a:fillRect/>
          </a:stretch>
        </p:blipFill>
        <p:spPr>
          <a:xfrm>
            <a:off x="5042825" y="1868350"/>
            <a:ext cx="2520625" cy="51565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8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CONCLUSIONES</a:t>
            </a:r>
            <a:endParaRPr/>
          </a:p>
        </p:txBody>
      </p:sp>
      <p:sp>
        <p:nvSpPr>
          <p:cNvPr id="708" name="Google Shape;708;p87"/>
          <p:cNvSpPr txBox="1"/>
          <p:nvPr>
            <p:ph idx="1" type="body"/>
          </p:nvPr>
        </p:nvSpPr>
        <p:spPr>
          <a:xfrm>
            <a:off x="459442" y="2606596"/>
            <a:ext cx="8589300" cy="3678300"/>
          </a:xfrm>
          <a:prstGeom prst="rect">
            <a:avLst/>
          </a:prstGeom>
          <a:noFill/>
          <a:ln>
            <a:noFill/>
          </a:ln>
        </p:spPr>
        <p:txBody>
          <a:bodyPr anchorCtr="0" anchor="ctr" bIns="45700" lIns="91425" spcFirstLastPara="1" rIns="91425" wrap="square" tIns="45700">
            <a:noAutofit/>
          </a:bodyPr>
          <a:lstStyle/>
          <a:p>
            <a:pPr indent="0" lvl="0" marL="0" marR="0" rtl="0" algn="just">
              <a:lnSpc>
                <a:spcPct val="87000"/>
              </a:lnSpc>
              <a:spcBef>
                <a:spcPts val="0"/>
              </a:spcBef>
              <a:spcAft>
                <a:spcPts val="0"/>
              </a:spcAft>
              <a:buSzPts val="1408"/>
              <a:buNone/>
            </a:pPr>
            <a:r>
              <a:rPr lang="es-ES" sz="1815">
                <a:latin typeface="Cambria"/>
                <a:ea typeface="Cambria"/>
                <a:cs typeface="Cambria"/>
                <a:sym typeface="Cambria"/>
              </a:rPr>
              <a:t>Se confirma la viabilidad del modelo Cliente-Servidor mediante una API Java que permite interoperabilidad total entre fronteras tecnológicas como Blazor y .NET MAUI de forma transparente.</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rPr lang="es-ES" sz="1815">
                <a:latin typeface="Cambria"/>
                <a:ea typeface="Cambria"/>
                <a:cs typeface="Cambria"/>
                <a:sym typeface="Cambria"/>
              </a:rPr>
              <a:t>El uso de JAX-RS sobre Payara Server simplificó la exposición de servicios, logrando una arquitectura de datos ligera y fácil de mantener mediante el uso de JSON.</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rPr lang="es-ES" sz="1815">
                <a:latin typeface="Cambria"/>
                <a:ea typeface="Cambria"/>
                <a:cs typeface="Cambria"/>
                <a:sym typeface="Cambria"/>
              </a:rPr>
              <a:t>La implementación de adaptadores y librerías compartidas permitió reutilizar la lógica de red en C#, reduciendo costos operativos al evitar desarrollos web y móviles redundantes.</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rPr lang="es-ES" sz="1815">
                <a:latin typeface="Cambria"/>
                <a:ea typeface="Cambria"/>
                <a:cs typeface="Cambria"/>
                <a:sym typeface="Cambria"/>
              </a:rPr>
              <a:t>El desacoplamiento total se garantizó mediante Jakarta EE, dejando la consistencia y validación de datos exclusivamente bajo la responsabilidad del backend, aislado de las interfaces visuales.</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rPr lang="es-ES" sz="1815">
                <a:latin typeface="Cambria"/>
                <a:ea typeface="Cambria"/>
                <a:cs typeface="Cambria"/>
                <a:sym typeface="Cambria"/>
              </a:rPr>
              <a:t>La seguridad basada en interceptores REST y Tokens Bearer demostró ser una solución middleware más ágil y efectiva para entornos multiplataforma que el manejo tradicional de cookies.</a:t>
            </a:r>
            <a:endParaRPr sz="1915">
              <a:latin typeface="Cambria"/>
              <a:ea typeface="Cambria"/>
              <a:cs typeface="Cambria"/>
              <a:sym typeface="Cambria"/>
            </a:endParaRPr>
          </a:p>
        </p:txBody>
      </p:sp>
      <p:sp>
        <p:nvSpPr>
          <p:cNvPr id="709" name="Google Shape;709;p8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lt1"/>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a:t>
            </a:r>
            <a:r>
              <a:rPr b="1" lang="es-ES" sz="1200">
                <a:solidFill>
                  <a:schemeClr val="lt1"/>
                </a:solidFill>
                <a:latin typeface="Gill Sans"/>
                <a:ea typeface="Gill Sans"/>
                <a:cs typeface="Gill Sans"/>
                <a:sym typeface="Gill Sans"/>
              </a:rPr>
              <a:t>RESTful</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CONCLUSIONES</a:t>
            </a:r>
            <a:endParaRPr b="0" i="0" sz="1400" u="none" cap="none" strike="noStrike">
              <a:solidFill>
                <a:srgbClr val="FFFF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8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RECOMENDACIONES</a:t>
            </a:r>
            <a:endParaRPr/>
          </a:p>
        </p:txBody>
      </p:sp>
      <p:sp>
        <p:nvSpPr>
          <p:cNvPr id="715" name="Google Shape;715;p8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lt1"/>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a:t>
            </a:r>
            <a:r>
              <a:rPr b="1" lang="es-ES" sz="1200">
                <a:solidFill>
                  <a:schemeClr val="lt1"/>
                </a:solidFill>
                <a:latin typeface="Gill Sans"/>
                <a:ea typeface="Gill Sans"/>
                <a:cs typeface="Gill Sans"/>
                <a:sym typeface="Gill Sans"/>
              </a:rPr>
              <a:t>RESTful</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RECOMENDACIONES</a:t>
            </a:r>
            <a:endParaRPr b="0" i="0" sz="1400" u="none" cap="none" strike="noStrike">
              <a:solidFill>
                <a:srgbClr val="FFFF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88"/>
          <p:cNvSpPr txBox="1"/>
          <p:nvPr>
            <p:ph idx="1" type="body"/>
          </p:nvPr>
        </p:nvSpPr>
        <p:spPr>
          <a:xfrm>
            <a:off x="459442" y="2606596"/>
            <a:ext cx="8589300" cy="3678300"/>
          </a:xfrm>
          <a:prstGeom prst="rect">
            <a:avLst/>
          </a:prstGeom>
          <a:noFill/>
          <a:ln>
            <a:noFill/>
          </a:ln>
        </p:spPr>
        <p:txBody>
          <a:bodyPr anchorCtr="0" anchor="ctr" bIns="45700" lIns="91425" spcFirstLastPara="1" rIns="91425" wrap="square" tIns="45700">
            <a:noAutofit/>
          </a:bodyPr>
          <a:lstStyle/>
          <a:p>
            <a:pPr indent="0" lvl="0" marL="0" marR="0" rtl="0" algn="just">
              <a:lnSpc>
                <a:spcPct val="87000"/>
              </a:lnSpc>
              <a:spcBef>
                <a:spcPts val="0"/>
              </a:spcBef>
              <a:spcAft>
                <a:spcPts val="0"/>
              </a:spcAft>
              <a:buSzPts val="1408"/>
              <a:buNone/>
            </a:pPr>
            <a:r>
              <a:rPr lang="es-ES" sz="1815">
                <a:latin typeface="Cambria"/>
                <a:ea typeface="Cambria"/>
                <a:cs typeface="Cambria"/>
                <a:sym typeface="Cambria"/>
              </a:rPr>
              <a:t>Reemplazar credenciales en código por persistencia en bases de datos relacionales mediante el estándar JPA/Hibernate.</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rPr lang="es-ES" sz="1815">
                <a:latin typeface="Cambria"/>
                <a:ea typeface="Cambria"/>
                <a:cs typeface="Cambria"/>
                <a:sym typeface="Cambria"/>
              </a:rPr>
              <a:t>Aprovechar el soporte nativo de Jakarta EE en Payara Server para una gestión transaccional segura y profesional.</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rPr lang="es-ES" sz="1815">
                <a:latin typeface="Cambria"/>
                <a:ea typeface="Cambria"/>
                <a:cs typeface="Cambria"/>
                <a:sym typeface="Cambria"/>
              </a:rPr>
              <a:t>Contenerizar el backend con Docker para garantizar despliegues automáticos y consistentes en cualquier ecosistema solicitado.</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rPr lang="es-ES" sz="1815">
                <a:latin typeface="Cambria"/>
                <a:ea typeface="Cambria"/>
                <a:cs typeface="Cambria"/>
                <a:sym typeface="Cambria"/>
              </a:rPr>
              <a:t>Facilitar la escalabilidad y migración hacia arquitecturas Cloud como Azure o AWS bajo condiciones idénticas de programación.</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rPr lang="es-ES" sz="1815">
                <a:latin typeface="Cambria"/>
                <a:ea typeface="Cambria"/>
                <a:cs typeface="Cambria"/>
                <a:sym typeface="Cambria"/>
              </a:rPr>
              <a:t>Implementar un sistema de reintentos con Polly y manejo de cachés en .NET para mitigar la inestabilidad de red.</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rPr lang="es-ES" sz="1815">
                <a:latin typeface="Cambria"/>
                <a:ea typeface="Cambria"/>
                <a:cs typeface="Cambria"/>
                <a:sym typeface="Cambria"/>
              </a:rPr>
              <a:t>Garantizar una experiencia de usuario fluida en Blazor y MAUI mediante alertas controladas en lugar de excepciones crudas.</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rPr lang="es-ES" sz="1815">
                <a:latin typeface="Cambria"/>
                <a:ea typeface="Cambria"/>
                <a:cs typeface="Cambria"/>
                <a:sym typeface="Cambria"/>
              </a:rPr>
              <a:t>Integrar JUnit y marcos de automatización en un flujo de integración continua (CI) para validar el sistema de extremo a extremo.</a:t>
            </a:r>
            <a:endParaRPr sz="1815">
              <a:latin typeface="Cambria"/>
              <a:ea typeface="Cambria"/>
              <a:cs typeface="Cambria"/>
              <a:sym typeface="Cambria"/>
            </a:endParaRPr>
          </a:p>
          <a:p>
            <a:pPr indent="0" lvl="0" marL="0" marR="0" rtl="0" algn="just">
              <a:lnSpc>
                <a:spcPct val="87000"/>
              </a:lnSpc>
              <a:spcBef>
                <a:spcPts val="0"/>
              </a:spcBef>
              <a:spcAft>
                <a:spcPts val="0"/>
              </a:spcAft>
              <a:buSzPts val="1408"/>
              <a:buNone/>
            </a:pPr>
            <a:r>
              <a:rPr lang="es-ES" sz="1815">
                <a:latin typeface="Cambria"/>
                <a:ea typeface="Cambria"/>
                <a:cs typeface="Cambria"/>
                <a:sym typeface="Cambria"/>
              </a:rPr>
              <a:t>Asegurar la integridad del flujo mediante herramientas como REST-assured y xUnit tanto en el servidor como en el cliente.</a:t>
            </a:r>
            <a:endParaRPr sz="1815">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